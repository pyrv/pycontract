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564" r:id="rId2"/>
    <p:sldId id="742" r:id="rId3"/>
    <p:sldId id="758" r:id="rId4"/>
    <p:sldId id="690" r:id="rId5"/>
    <p:sldId id="611" r:id="rId6"/>
    <p:sldId id="619" r:id="rId7"/>
    <p:sldId id="323" r:id="rId8"/>
    <p:sldId id="753" r:id="rId9"/>
    <p:sldId id="755" r:id="rId10"/>
    <p:sldId id="575" r:id="rId11"/>
    <p:sldId id="576" r:id="rId12"/>
    <p:sldId id="577" r:id="rId13"/>
    <p:sldId id="580" r:id="rId14"/>
    <p:sldId id="581" r:id="rId15"/>
    <p:sldId id="759" r:id="rId16"/>
    <p:sldId id="582" r:id="rId17"/>
    <p:sldId id="590" r:id="rId18"/>
    <p:sldId id="585" r:id="rId19"/>
    <p:sldId id="743" r:id="rId20"/>
    <p:sldId id="583" r:id="rId21"/>
    <p:sldId id="756" r:id="rId22"/>
    <p:sldId id="747" r:id="rId23"/>
    <p:sldId id="751" r:id="rId24"/>
    <p:sldId id="752" r:id="rId25"/>
    <p:sldId id="734" r:id="rId26"/>
    <p:sldId id="757" r:id="rId27"/>
    <p:sldId id="727" r:id="rId28"/>
    <p:sldId id="719" r:id="rId29"/>
    <p:sldId id="754" r:id="rId30"/>
    <p:sldId id="728" r:id="rId31"/>
    <p:sldId id="720" r:id="rId32"/>
    <p:sldId id="744" r:id="rId33"/>
    <p:sldId id="731" r:id="rId34"/>
    <p:sldId id="748" r:id="rId35"/>
    <p:sldId id="749" r:id="rId36"/>
    <p:sldId id="75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AFAF"/>
    <a:srgbClr val="918D8D"/>
    <a:srgbClr val="0C7136"/>
    <a:srgbClr val="23619A"/>
    <a:srgbClr val="089246"/>
    <a:srgbClr val="9545E6"/>
    <a:srgbClr val="9044D4"/>
    <a:srgbClr val="8A4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/>
    <p:restoredTop sz="94674"/>
  </p:normalViewPr>
  <p:slideViewPr>
    <p:cSldViewPr snapToGrid="0">
      <p:cViewPr varScale="1">
        <p:scale>
          <a:sx n="124" d="100"/>
          <a:sy n="124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F9DEA-C7F6-7F43-8F57-34E3ACE07B5C}" type="datetimeFigureOut">
              <a:rPr lang="en-US" smtClean="0"/>
              <a:t>9/28/22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3D55B-E7F6-E04D-8E09-5CCD17267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58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538428CD-A02E-FC15-A86D-9DA530A529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9pPr>
          </a:lstStyle>
          <a:p>
            <a:fld id="{A5D601E3-8E42-F34C-B4BC-67924EB12051}" type="slidenum">
              <a:rPr lang="en-US" altLang="en-US" sz="1200" b="0" smtClean="0">
                <a:latin typeface="Arial" panose="020B0604020202020204" pitchFamily="34" charset="0"/>
              </a:rPr>
              <a:pPr/>
              <a:t>1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79E495B9-91E4-D5E3-76A2-554B141663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6156BBA-50EF-F8A1-7CA6-6605600EF4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>
            <a:extLst>
              <a:ext uri="{FF2B5EF4-FFF2-40B4-BE49-F238E27FC236}">
                <a16:creationId xmlns:a16="http://schemas.microsoft.com/office/drawing/2014/main" id="{2846EE21-0A61-3052-8D10-93FBEE36EA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4" name="Notes Placeholder 2">
            <a:extLst>
              <a:ext uri="{FF2B5EF4-FFF2-40B4-BE49-F238E27FC236}">
                <a16:creationId xmlns:a16="http://schemas.microsoft.com/office/drawing/2014/main" id="{E1A24226-F63A-EC74-2405-2B99409064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675" name="Slide Number Placeholder 3">
            <a:extLst>
              <a:ext uri="{FF2B5EF4-FFF2-40B4-BE49-F238E27FC236}">
                <a16:creationId xmlns:a16="http://schemas.microsoft.com/office/drawing/2014/main" id="{95B2C4A1-2E55-FACB-2982-B0C61C534D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9pPr>
          </a:lstStyle>
          <a:p>
            <a:fld id="{2D24AE34-D50A-F544-B665-3732F8EC737E}" type="slidenum">
              <a:rPr lang="en-US" altLang="en-US" sz="1200" b="0" smtClean="0">
                <a:latin typeface="Arial" panose="020B0604020202020204" pitchFamily="34" charset="0"/>
              </a:rPr>
              <a:pPr/>
              <a:t>10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>
            <a:extLst>
              <a:ext uri="{FF2B5EF4-FFF2-40B4-BE49-F238E27FC236}">
                <a16:creationId xmlns:a16="http://schemas.microsoft.com/office/drawing/2014/main" id="{FE752A7C-5D8F-0B2C-8BDE-B10DF13B8A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2" name="Notes Placeholder 2">
            <a:extLst>
              <a:ext uri="{FF2B5EF4-FFF2-40B4-BE49-F238E27FC236}">
                <a16:creationId xmlns:a16="http://schemas.microsoft.com/office/drawing/2014/main" id="{01E045CE-A8D8-4C3C-765F-55E4621BCE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0723" name="Slide Number Placeholder 3">
            <a:extLst>
              <a:ext uri="{FF2B5EF4-FFF2-40B4-BE49-F238E27FC236}">
                <a16:creationId xmlns:a16="http://schemas.microsoft.com/office/drawing/2014/main" id="{3B74176E-4181-B0B1-6DBC-90673E23A1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ndale Mono" panose="020B0509000000000004" pitchFamily="49" charset="0"/>
                <a:ea typeface="ＭＳ Ｐゴシック" panose="020B0600070205080204" pitchFamily="34" charset="-128"/>
              </a:defRPr>
            </a:lvl9pPr>
          </a:lstStyle>
          <a:p>
            <a:fld id="{462F247D-0009-874D-B419-AE50F652238D}" type="slidenum">
              <a:rPr lang="en-US" altLang="en-US" sz="1200" b="0" smtClean="0">
                <a:latin typeface="Arial" panose="020B0604020202020204" pitchFamily="34" charset="0"/>
              </a:rPr>
              <a:pPr/>
              <a:t>11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0E4A-890A-E962-F410-064FC1117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8CFCD-5768-DE55-B598-14B8893C4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AED3E-6095-3107-C755-056D70752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59A59-290E-6B49-99A6-036A861D4303}" type="datetimeFigureOut">
              <a:rPr lang="en-US" smtClean="0"/>
              <a:t>9/28/22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5E0BE-BFCE-02CE-C875-8A7505348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71098-E2D3-F08B-B5DF-5B34D9A7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8576-63FE-1A43-AC2E-29F2BE59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92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BA34-791D-B43F-A6A7-AC47D3176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3237A-2272-C69B-9E3D-4DEABC566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6756C-00BC-1FFD-FB5B-A0D0B994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59A59-290E-6B49-99A6-036A861D4303}" type="datetimeFigureOut">
              <a:rPr lang="en-US" smtClean="0"/>
              <a:t>9/28/22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961C8-4A3B-3DEE-8E07-C09CFA2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FBBE9-3617-E0BE-B027-D8C6271D2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8576-63FE-1A43-AC2E-29F2BE59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14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E948-82A4-035E-B5A7-0065ED5B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CE0EB-7720-B485-FC39-2EC26170B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462E1-5C31-4D2A-1A55-4A4EB6B6D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59A59-290E-6B49-99A6-036A861D4303}" type="datetimeFigureOut">
              <a:rPr lang="en-US" smtClean="0"/>
              <a:t>9/28/22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D77CF-235F-A46C-3225-B94540EA0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FDCFC-D5F1-8DDE-F39F-4964EA3D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8576-63FE-1A43-AC2E-29F2BE59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9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276DB-2174-631D-7C66-5C99B1856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FD6C3-A401-D286-7890-B6B3492077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BEB8C-9CFA-3299-7366-DDE1DC395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E14E2-EB95-AD61-D3A2-D28B8E87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59A59-290E-6B49-99A6-036A861D4303}" type="datetimeFigureOut">
              <a:rPr lang="en-US" smtClean="0"/>
              <a:t>9/28/22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2D7DB-FEE0-0912-8F79-0615A9973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E14FE-669F-BB12-C583-F778F5D4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8576-63FE-1A43-AC2E-29F2BE59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3675-6DB2-5DF7-C7EF-04BFBBCBC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42980-8E85-92B1-3A9D-101DA12C5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4EE8F-1CA2-4B9D-B9EF-FE6AB7EFF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97A4D-3E64-69D5-858C-E70910589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47C51-B0A9-9553-D38E-F8649D591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D86A89-EAA2-AFBC-7FEF-640090555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59A59-290E-6B49-99A6-036A861D4303}" type="datetimeFigureOut">
              <a:rPr lang="en-US" smtClean="0"/>
              <a:t>9/28/22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BBFB79-B092-9F1D-AEF2-DB869D83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28AA58-AA49-39EA-6764-2E80E642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8576-63FE-1A43-AC2E-29F2BE59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4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DE0A6-B6FF-A286-EB6B-6AC769E7B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D2EA2-8B92-3AB5-D8BB-C7B987CD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59A59-290E-6B49-99A6-036A861D4303}" type="datetimeFigureOut">
              <a:rPr lang="en-US" smtClean="0"/>
              <a:t>9/28/22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BEDC4-6C8B-69D7-E985-4E6E7282A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5826B-AF98-F171-FADA-8D409FC7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8576-63FE-1A43-AC2E-29F2BE59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29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3D841-B6F1-1DF9-41A2-C62D02EA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59A59-290E-6B49-99A6-036A861D4303}" type="datetimeFigureOut">
              <a:rPr lang="en-US" smtClean="0"/>
              <a:t>9/28/22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62B793-2BFE-3450-2059-3C1B23115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BD218-BA70-6D16-1A20-A530BCE3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8576-63FE-1A43-AC2E-29F2BE59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52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27DE3-89EC-FBFE-6AC5-FBBEDAAA2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03BF1-E36D-BF5C-46C7-3248FA7EC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8CF57-2E26-DF97-4442-272B878EF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542E5-45ED-DA37-CC06-6D58F0004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59A59-290E-6B49-99A6-036A861D4303}" type="datetimeFigureOut">
              <a:rPr lang="en-US" smtClean="0"/>
              <a:t>9/28/22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F7290-A3ED-B4B3-7930-2FDADC86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F67E2-D176-5F5E-4197-80A97E56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8576-63FE-1A43-AC2E-29F2BE59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437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16454-CC0D-31EB-EFF1-47D4474FF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F915B8-2C11-3C81-3CB2-4E21976F6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2B195-05E0-7951-851C-8304F07FD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EA00C-2347-8A18-2CDD-AD7AB7349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59A59-290E-6B49-99A6-036A861D4303}" type="datetimeFigureOut">
              <a:rPr lang="en-US" smtClean="0"/>
              <a:t>9/28/22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7D7D7-2EF3-C955-45CB-494E649E3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0C677-2166-89F7-48C4-E34E6A855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8576-63FE-1A43-AC2E-29F2BE59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79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C36CF-6FC2-C369-0947-55094B57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6453C0-9011-8045-7D7E-6834EC8B4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CD86B-DC2D-C69C-E20C-3AA70A06B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59A59-290E-6B49-99A6-036A861D4303}" type="datetimeFigureOut">
              <a:rPr lang="en-US" smtClean="0"/>
              <a:t>9/28/22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558E8-176C-6EFD-8F74-EC2AEEA8F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E7892-39A2-97EC-EA71-468B5134D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8576-63FE-1A43-AC2E-29F2BE59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89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040173-84AF-E98E-3420-0543A62E6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E5A21-C531-0F2A-FC56-02263E692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FDC64-A88F-A69C-8006-97AE74A73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59A59-290E-6B49-99A6-036A861D4303}" type="datetimeFigureOut">
              <a:rPr lang="en-US" smtClean="0"/>
              <a:t>9/28/22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17398-EE15-F349-410F-C44F17E6E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780C8-3824-BF1A-B76D-9F0492D1E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8576-63FE-1A43-AC2E-29F2BE59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3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B52B0-10B3-7731-B7B1-DA2A70CC8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E8E50-B7FA-D66C-D399-C7951FD16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CDE2C-C943-9896-F127-1E837AA32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59A59-290E-6B49-99A6-036A861D4303}" type="datetimeFigureOut">
              <a:rPr lang="en-US" smtClean="0"/>
              <a:t>9/28/22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903E9-E3EF-BAD2-FEAE-434C1B457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40D05-D784-7230-4362-087349A39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98576-63FE-1A43-AC2E-29F2BE59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6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jp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jpe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726CD03D-9FA7-8419-D948-3ED2DC4DF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0" y="5105400"/>
            <a:ext cx="7239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Dennis Dams (TNO-ESI, The Netherlands)</a:t>
            </a:r>
          </a:p>
          <a:p>
            <a:pPr algn="ctr" eaLnBrk="1" hangingPunct="1">
              <a:buFontTx/>
              <a:buNone/>
            </a:pPr>
            <a:r>
              <a:rPr lang="en-US" altLang="en-US" sz="2000" b="1" dirty="0">
                <a:solidFill>
                  <a:srgbClr val="0070C0"/>
                </a:solidFill>
              </a:rPr>
              <a:t>Klaus </a:t>
            </a:r>
            <a:r>
              <a:rPr lang="en-US" altLang="en-US" sz="2000" b="1" dirty="0" err="1">
                <a:solidFill>
                  <a:srgbClr val="0070C0"/>
                </a:solidFill>
              </a:rPr>
              <a:t>Havelund</a:t>
            </a:r>
            <a:r>
              <a:rPr lang="en-US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en-US" sz="2000" dirty="0">
                <a:solidFill>
                  <a:srgbClr val="0070C0"/>
                </a:solidFill>
              </a:rPr>
              <a:t>(Jet Propulsion Laboratory, USA)</a:t>
            </a:r>
          </a:p>
          <a:p>
            <a:pPr algn="ctr" eaLnBrk="1" hangingPunct="1">
              <a:buFontTx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Sean Kauffman (Aalborg University, Denmark)</a:t>
            </a:r>
          </a:p>
        </p:txBody>
      </p:sp>
      <p:pic>
        <p:nvPicPr>
          <p:cNvPr id="15363" name="Picture 2">
            <a:extLst>
              <a:ext uri="{FF2B5EF4-FFF2-40B4-BE49-F238E27FC236}">
                <a16:creationId xmlns:a16="http://schemas.microsoft.com/office/drawing/2014/main" id="{0157A2D7-3AA1-95E1-F6EF-B0C7432F6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211513"/>
            <a:ext cx="165735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1C858D1A-2F9D-3A06-B0E9-56405A048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302000"/>
            <a:ext cx="2890838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1B045E1-F3A7-F3AB-0C19-19013F5F0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1313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/>
              <a:t>A Python Library for Trace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202018-1B55-E721-CF5D-B8868E6A36F2}"/>
              </a:ext>
            </a:extLst>
          </p:cNvPr>
          <p:cNvSpPr txBox="1"/>
          <p:nvPr/>
        </p:nvSpPr>
        <p:spPr>
          <a:xfrm>
            <a:off x="11194181" y="44468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Box 4">
            <a:extLst>
              <a:ext uri="{FF2B5EF4-FFF2-40B4-BE49-F238E27FC236}">
                <a16:creationId xmlns:a16="http://schemas.microsoft.com/office/drawing/2014/main" id="{5D325E56-EC44-7EB6-85A7-86801587F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50" y="281781"/>
            <a:ext cx="6515100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ndale Mono" panose="020B0509000000000004" pitchFamily="49" charset="0"/>
              </a:rPr>
              <a:t>https://</a:t>
            </a:r>
            <a:r>
              <a:rPr lang="en-US" altLang="en-US" sz="2400" dirty="0" err="1">
                <a:latin typeface="Andale Mono" panose="020B0509000000000004" pitchFamily="49" charset="0"/>
              </a:rPr>
              <a:t>github.com</a:t>
            </a:r>
            <a:r>
              <a:rPr lang="en-US" altLang="en-US" sz="2400" dirty="0">
                <a:latin typeface="Andale Mono" panose="020B0509000000000004" pitchFamily="49" charset="0"/>
              </a:rPr>
              <a:t>/</a:t>
            </a:r>
            <a:r>
              <a:rPr lang="en-US" altLang="en-US" sz="2400" dirty="0" err="1">
                <a:latin typeface="Andale Mono" panose="020B0509000000000004" pitchFamily="49" charset="0"/>
              </a:rPr>
              <a:t>pyrv</a:t>
            </a:r>
            <a:r>
              <a:rPr lang="en-US" altLang="en-US" sz="2400" dirty="0">
                <a:latin typeface="Andale Mono" panose="020B0509000000000004" pitchFamily="49" charset="0"/>
              </a:rPr>
              <a:t>/</a:t>
            </a:r>
            <a:r>
              <a:rPr lang="en-US" altLang="en-US" sz="2400" dirty="0" err="1">
                <a:latin typeface="Andale Mono" panose="020B0509000000000004" pitchFamily="49" charset="0"/>
              </a:rPr>
              <a:t>pycontract</a:t>
            </a:r>
            <a:endParaRPr lang="en-US" altLang="en-US" sz="2400" dirty="0">
              <a:latin typeface="Andale Mono" panose="020B0509000000000004" pitchFamily="49" charset="0"/>
            </a:endParaRP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D09D43D3-C944-6B6A-3B05-6B89A32DC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130585"/>
            <a:ext cx="7772400" cy="529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A955D374-C2C8-5FA9-45D3-8810150DC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objective: analysis of log files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AC1169-1BA6-FC6B-1939-E9888CA52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75" y="1654525"/>
            <a:ext cx="2633036" cy="25634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78E884-CB22-B84C-466D-C1A9C1093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471598">
            <a:off x="8104335" y="4046591"/>
            <a:ext cx="3059686" cy="2269119"/>
          </a:xfrm>
          <a:prstGeom prst="rect">
            <a:avLst/>
          </a:prstGeom>
        </p:spPr>
      </p:pic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2F93566D-1E58-466A-5AE0-87FB276437B1}"/>
              </a:ext>
            </a:extLst>
          </p:cNvPr>
          <p:cNvCxnSpPr/>
          <p:nvPr/>
        </p:nvCxnSpPr>
        <p:spPr>
          <a:xfrm rot="10800000">
            <a:off x="3505200" y="5354852"/>
            <a:ext cx="6532652" cy="532240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476D7CB-DA64-39B8-3921-E9F5A54DC6C5}"/>
              </a:ext>
            </a:extLst>
          </p:cNvPr>
          <p:cNvSpPr txBox="1"/>
          <p:nvPr/>
        </p:nvSpPr>
        <p:spPr>
          <a:xfrm>
            <a:off x="6629400" y="5887093"/>
            <a:ext cx="802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B8757E-4904-A327-6D61-CB87BA98F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68" y="1747734"/>
            <a:ext cx="6269064" cy="337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87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0D2728A0-480D-3E49-8FD0-E798CD635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Classical dimensions to consider = </a:t>
            </a:r>
            <a:r>
              <a:rPr lang="en-US" altLang="en-US" dirty="0">
                <a:solidFill>
                  <a:srgbClr val="FF0000"/>
                </a:solidFill>
              </a:rPr>
              <a:t>E</a:t>
            </a:r>
            <a:r>
              <a:rPr lang="en-US" altLang="en-US" baseline="30000" dirty="0"/>
              <a:t>3</a:t>
            </a:r>
            <a:endParaRPr lang="en-US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3B86A-1DB4-4B4D-B557-3FE4449E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</a:rPr>
              <a:t>E</a:t>
            </a:r>
            <a:r>
              <a:rPr lang="en-US" sz="2400" dirty="0"/>
              <a:t>fficiency</a:t>
            </a:r>
          </a:p>
          <a:p>
            <a:pPr marL="0" indent="0">
              <a:buNone/>
              <a:defRPr/>
            </a:pPr>
            <a:endParaRPr lang="en-US" sz="2400" dirty="0"/>
          </a:p>
          <a:p>
            <a:pPr marL="0" indent="0">
              <a:buNone/>
              <a:defRPr/>
            </a:pPr>
            <a:endParaRPr lang="en-US" sz="2400" dirty="0"/>
          </a:p>
          <a:p>
            <a:pPr marL="0" indent="0">
              <a:buNone/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>
                <a:solidFill>
                  <a:srgbClr val="FF0000"/>
                </a:solidFill>
              </a:rPr>
              <a:t>E</a:t>
            </a:r>
            <a:r>
              <a:rPr lang="en-US" sz="2400" dirty="0"/>
              <a:t>xpressiveness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>
                <a:solidFill>
                  <a:srgbClr val="FF0000"/>
                </a:solidFill>
              </a:rPr>
              <a:t>E</a:t>
            </a:r>
            <a:r>
              <a:rPr lang="en-US" sz="2400" dirty="0"/>
              <a:t>legance</a:t>
            </a:r>
          </a:p>
        </p:txBody>
      </p:sp>
      <p:pic>
        <p:nvPicPr>
          <p:cNvPr id="39939" name="Picture 3" descr="images.jpeg">
            <a:extLst>
              <a:ext uri="{FF2B5EF4-FFF2-40B4-BE49-F238E27FC236}">
                <a16:creationId xmlns:a16="http://schemas.microsoft.com/office/drawing/2014/main" id="{2E85A12D-18C2-F64D-8BFF-47933CE61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225" y="3355976"/>
            <a:ext cx="1589088" cy="134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0" name="Picture 4" descr="images.png">
            <a:extLst>
              <a:ext uri="{FF2B5EF4-FFF2-40B4-BE49-F238E27FC236}">
                <a16:creationId xmlns:a16="http://schemas.microsoft.com/office/drawing/2014/main" id="{EE25E60E-949A-4740-92EB-73976C2EE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935164"/>
            <a:ext cx="1042988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6" descr="Unknown.png">
            <a:extLst>
              <a:ext uri="{FF2B5EF4-FFF2-40B4-BE49-F238E27FC236}">
                <a16:creationId xmlns:a16="http://schemas.microsoft.com/office/drawing/2014/main" id="{B2D72C97-D378-DF4F-820D-AACE61A05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5043488"/>
            <a:ext cx="11112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ight Arrow 1">
            <a:extLst>
              <a:ext uri="{FF2B5EF4-FFF2-40B4-BE49-F238E27FC236}">
                <a16:creationId xmlns:a16="http://schemas.microsoft.com/office/drawing/2014/main" id="{7CFDF6C3-B4E7-758E-94AC-501AAE175843}"/>
              </a:ext>
            </a:extLst>
          </p:cNvPr>
          <p:cNvSpPr/>
          <p:nvPr/>
        </p:nvSpPr>
        <p:spPr>
          <a:xfrm rot="10800000">
            <a:off x="8702211" y="3788347"/>
            <a:ext cx="978408" cy="4846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76FC3D2B-EBB0-CA70-70AD-F2CD0CAE7D52}"/>
              </a:ext>
            </a:extLst>
          </p:cNvPr>
          <p:cNvSpPr/>
          <p:nvPr/>
        </p:nvSpPr>
        <p:spPr>
          <a:xfrm rot="10800000">
            <a:off x="8986500" y="5066506"/>
            <a:ext cx="409829" cy="31692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470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versus internal DSLs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4801" y="3800901"/>
            <a:ext cx="1811704" cy="203364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programming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9894" y="1820512"/>
            <a:ext cx="728235" cy="719324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DSL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3975130" y="2610880"/>
            <a:ext cx="1" cy="11100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62859" y="2985688"/>
            <a:ext cx="782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5096" y="616492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external DSL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978300" y="3089599"/>
            <a:ext cx="1811704" cy="3408645"/>
            <a:chOff x="5454300" y="3089598"/>
            <a:chExt cx="1811704" cy="3408645"/>
          </a:xfrm>
        </p:grpSpPr>
        <p:sp>
          <p:nvSpPr>
            <p:cNvPr id="9" name="Rectangle 8"/>
            <p:cNvSpPr/>
            <p:nvPr/>
          </p:nvSpPr>
          <p:spPr>
            <a:xfrm>
              <a:off x="5454300" y="3800901"/>
              <a:ext cx="1811704" cy="2033644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programming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language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996034" y="3089598"/>
              <a:ext cx="728235" cy="719324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DSL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47885" y="6128911"/>
              <a:ext cx="13117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internal DSL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41490C6-25EA-D247-A623-59306AFFCB5D}"/>
              </a:ext>
            </a:extLst>
          </p:cNvPr>
          <p:cNvSpPr txBox="1"/>
          <p:nvPr/>
        </p:nvSpPr>
        <p:spPr>
          <a:xfrm>
            <a:off x="5066893" y="1249743"/>
            <a:ext cx="2632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specification language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161BAF-7880-3D4E-8491-720A08BF7921}"/>
              </a:ext>
            </a:extLst>
          </p:cNvPr>
          <p:cNvSpPr/>
          <p:nvPr/>
        </p:nvSpPr>
        <p:spPr>
          <a:xfrm>
            <a:off x="8366299" y="2985688"/>
            <a:ext cx="12358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API/library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8573857-07A4-0346-A8EE-F7E39D5B311D}"/>
              </a:ext>
            </a:extLst>
          </p:cNvPr>
          <p:cNvCxnSpPr>
            <a:stCxn id="2" idx="2"/>
          </p:cNvCxnSpPr>
          <p:nvPr/>
        </p:nvCxnSpPr>
        <p:spPr>
          <a:xfrm flipH="1">
            <a:off x="4179029" y="1619076"/>
            <a:ext cx="2204314" cy="5610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71EF1D-D60D-6949-9455-63AC61C4B26D}"/>
              </a:ext>
            </a:extLst>
          </p:cNvPr>
          <p:cNvCxnSpPr>
            <a:cxnSpLocks/>
          </p:cNvCxnSpPr>
          <p:nvPr/>
        </p:nvCxnSpPr>
        <p:spPr>
          <a:xfrm>
            <a:off x="6368717" y="1619075"/>
            <a:ext cx="1042737" cy="16598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DC6C47-695E-8744-8CBE-51A7032C1A36}"/>
              </a:ext>
            </a:extLst>
          </p:cNvPr>
          <p:cNvCxnSpPr>
            <a:cxnSpLocks/>
          </p:cNvCxnSpPr>
          <p:nvPr/>
        </p:nvCxnSpPr>
        <p:spPr>
          <a:xfrm>
            <a:off x="6368716" y="1619076"/>
            <a:ext cx="521368" cy="23112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ED634F5-605A-2FCC-8AE7-43BE6924B468}"/>
              </a:ext>
            </a:extLst>
          </p:cNvPr>
          <p:cNvSpPr txBox="1"/>
          <p:nvPr/>
        </p:nvSpPr>
        <p:spPr>
          <a:xfrm>
            <a:off x="8984224" y="3930317"/>
            <a:ext cx="223272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Shallow internal DSLs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Host language is </a:t>
            </a:r>
          </a:p>
          <a:p>
            <a:r>
              <a:rPr lang="en-US" dirty="0"/>
              <a:t>     </a:t>
            </a:r>
            <a:r>
              <a:rPr lang="en-US" u="sng" dirty="0"/>
              <a:t>part of DSL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Deep internal DSL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Host language is </a:t>
            </a:r>
          </a:p>
          <a:p>
            <a:r>
              <a:rPr lang="en-US" dirty="0"/>
              <a:t>     </a:t>
            </a:r>
            <a:r>
              <a:rPr lang="en-US" u="sng" dirty="0"/>
              <a:t>used to build AST</a:t>
            </a:r>
          </a:p>
        </p:txBody>
      </p:sp>
    </p:spTree>
    <p:extLst>
      <p:ext uri="{BB962C8B-B14F-4D97-AF65-F5344CB8AC3E}">
        <p14:creationId xmlns:p14="http://schemas.microsoft.com/office/powerpoint/2010/main" val="90405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61F2C-6481-8049-A523-7469270B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vs. internal DSLs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4CDE0-AB2C-6543-859B-32D6DAEA4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External DSL advantages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CF103-9564-924F-AB00-E977DAD85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r>
              <a:rPr lang="en-US" dirty="0"/>
              <a:t>Notation can be optimized for writability and readability</a:t>
            </a:r>
          </a:p>
          <a:p>
            <a:r>
              <a:rPr lang="en-US" dirty="0"/>
              <a:t>Specifications can be analyzed and visualized easily</a:t>
            </a:r>
          </a:p>
          <a:p>
            <a:r>
              <a:rPr lang="en-US" dirty="0"/>
              <a:t>It may make optimization easier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232B89-B9D5-0547-989A-D0E94F812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Internal DSL advantages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A22D19-DBF6-0E49-AE97-8CB72AEC3B4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Expressive</a:t>
            </a:r>
          </a:p>
          <a:p>
            <a:r>
              <a:rPr lang="en-US" dirty="0"/>
              <a:t>User does not have to learn a new language</a:t>
            </a:r>
          </a:p>
          <a:p>
            <a:r>
              <a:rPr lang="en-US" dirty="0"/>
              <a:t>Popularity of programming language helps with infusion</a:t>
            </a:r>
          </a:p>
          <a:p>
            <a:r>
              <a:rPr lang="en-US" dirty="0"/>
              <a:t>Can benefit from existing IDEs, debuggers,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Can make DSL development faster</a:t>
            </a:r>
          </a:p>
          <a:p>
            <a:r>
              <a:rPr lang="en-US" dirty="0"/>
              <a:t>Can make maintenance easier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538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27560main_0a-001-ladee-topasm_020210_1_946-71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185" y="1826461"/>
            <a:ext cx="1030185" cy="773183"/>
          </a:xfrm>
          <a:prstGeom prst="rect">
            <a:avLst/>
          </a:prstGeom>
        </p:spPr>
      </p:pic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006" y="1497567"/>
            <a:ext cx="1438706" cy="1445128"/>
          </a:xfrm>
          <a:prstGeom prst="rect">
            <a:avLst/>
          </a:prstGeom>
        </p:spPr>
      </p:pic>
      <p:pic>
        <p:nvPicPr>
          <p:cNvPr id="6" name="Picture 5" descr="Earth_Blue_Marble_cropped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273" y="4200499"/>
            <a:ext cx="2011524" cy="1989777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3984010" y="5208727"/>
            <a:ext cx="1198922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84010" y="4456929"/>
            <a:ext cx="1178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command </a:t>
            </a:r>
          </a:p>
          <a:p>
            <a:r>
              <a:rPr lang="en-US" dirty="0"/>
              <a:t>sequence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7456444" y="2717447"/>
            <a:ext cx="8881" cy="104790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43261" y="2805633"/>
            <a:ext cx="11782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verified</a:t>
            </a:r>
          </a:p>
          <a:p>
            <a:r>
              <a:rPr lang="en-US" dirty="0"/>
              <a:t>command </a:t>
            </a:r>
          </a:p>
          <a:p>
            <a:r>
              <a:rPr lang="en-US" dirty="0"/>
              <a:t>sequence</a:t>
            </a:r>
          </a:p>
        </p:txBody>
      </p:sp>
      <p:pic>
        <p:nvPicPr>
          <p:cNvPr id="7" name="Picture 6" descr="Picture 3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285" y="248894"/>
            <a:ext cx="6195540" cy="881338"/>
          </a:xfrm>
          <a:prstGeom prst="rect">
            <a:avLst/>
          </a:prstGeom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981" y="5459581"/>
            <a:ext cx="1323255" cy="10023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9" name="Picture 18" descr="DownloadedFile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755" y="404725"/>
            <a:ext cx="668750" cy="5696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E939E1C-C929-7649-E772-84FFB337D5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285" y="3703210"/>
            <a:ext cx="4424317" cy="23177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6026FA-DCE7-9D1C-EBF0-8D6E52219870}"/>
              </a:ext>
            </a:extLst>
          </p:cNvPr>
          <p:cNvSpPr txBox="1"/>
          <p:nvPr/>
        </p:nvSpPr>
        <p:spPr>
          <a:xfrm>
            <a:off x="9946532" y="4709771"/>
            <a:ext cx="1339790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 err="1"/>
              <a:t>TraceContract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BB685F-CC8A-C299-D548-FE5FD6F1A6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6440" y="2717447"/>
            <a:ext cx="2538838" cy="1750843"/>
          </a:xfrm>
          <a:prstGeom prst="rect">
            <a:avLst/>
          </a:prstGeom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A87094-41CA-3A4D-07D8-477C1693DD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99662" y="5090932"/>
            <a:ext cx="1433530" cy="65631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A66E683-5072-91D3-3CEF-3525F2255A81}"/>
              </a:ext>
            </a:extLst>
          </p:cNvPr>
          <p:cNvSpPr txBox="1"/>
          <p:nvPr/>
        </p:nvSpPr>
        <p:spPr>
          <a:xfrm>
            <a:off x="5419027" y="6092589"/>
            <a:ext cx="409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Kurklu</a:t>
            </a:r>
            <a:r>
              <a:rPr lang="en-US" dirty="0"/>
              <a:t> at NASA Ames Research Center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A0A586-88B1-AF16-5839-8382B25CB75F}"/>
              </a:ext>
            </a:extLst>
          </p:cNvPr>
          <p:cNvSpPr txBox="1"/>
          <p:nvPr/>
        </p:nvSpPr>
        <p:spPr>
          <a:xfrm>
            <a:off x="9834870" y="5605188"/>
            <a:ext cx="1774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Internal DSL</a:t>
            </a:r>
          </a:p>
          <a:p>
            <a:r>
              <a:rPr lang="en-US" dirty="0"/>
              <a:t>Developed at JPL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588F68-BBE9-DFAC-79C7-8011261F6463}"/>
              </a:ext>
            </a:extLst>
          </p:cNvPr>
          <p:cNvSpPr txBox="1"/>
          <p:nvPr/>
        </p:nvSpPr>
        <p:spPr>
          <a:xfrm>
            <a:off x="170494" y="396079"/>
            <a:ext cx="318144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Evidence of value of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internal</a:t>
            </a:r>
            <a:r>
              <a:rPr lang="en-US" sz="2800" dirty="0"/>
              <a:t> DSL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42B2920-87D8-7255-3A64-91124DDBC54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8121" y="2805633"/>
            <a:ext cx="668562" cy="73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24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98592-B44A-977A-E649-4CB4FB566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910" y="1972543"/>
            <a:ext cx="10515600" cy="1325563"/>
          </a:xfrm>
        </p:spPr>
        <p:txBody>
          <a:bodyPr/>
          <a:lstStyle/>
          <a:p>
            <a:r>
              <a:rPr lang="en-US" dirty="0" err="1"/>
              <a:t>CommaSuite</a:t>
            </a:r>
            <a:r>
              <a:rPr lang="en-US" dirty="0"/>
              <a:t> – an External DSL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0C2DA-BBC0-3C8B-E668-DD5F510A81F3}"/>
              </a:ext>
            </a:extLst>
          </p:cNvPr>
          <p:cNvSpPr txBox="1"/>
          <p:nvPr/>
        </p:nvSpPr>
        <p:spPr>
          <a:xfrm>
            <a:off x="1508910" y="3096437"/>
            <a:ext cx="962691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>
                <a:latin typeface="SFRM1000"/>
              </a:rPr>
              <a:t>“T</a:t>
            </a:r>
            <a:r>
              <a:rPr lang="en-US" sz="3200" i="1" dirty="0">
                <a:effectLst/>
                <a:latin typeface="SFRM1000"/>
              </a:rPr>
              <a:t>he development of the external </a:t>
            </a:r>
            <a:r>
              <a:rPr lang="en-US" sz="3200" i="1" dirty="0" err="1">
                <a:effectLst/>
                <a:latin typeface="SFRM1000"/>
              </a:rPr>
              <a:t>CommaSuite</a:t>
            </a:r>
            <a:r>
              <a:rPr lang="en-US" sz="3200" i="1" dirty="0">
                <a:effectLst/>
                <a:latin typeface="SFRM1000"/>
              </a:rPr>
              <a:t> DSL has involved regularly occurring user requests for more ‘richness</a:t>
            </a:r>
            <a:r>
              <a:rPr lang="en-US" sz="3200" i="1" dirty="0">
                <a:latin typeface="SFRM1000"/>
              </a:rPr>
              <a:t>’</a:t>
            </a:r>
            <a:r>
              <a:rPr lang="en-US" sz="3200" i="1" dirty="0">
                <a:effectLst/>
                <a:latin typeface="SFRM1000"/>
              </a:rPr>
              <a:t> in the language such as dictionaries (hash maps) as an additional data type and a notation for namespaces”. </a:t>
            </a:r>
            <a:endParaRPr lang="en-US" sz="32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9C76CB-1F53-D247-2600-162CEDA5AC2C}"/>
              </a:ext>
            </a:extLst>
          </p:cNvPr>
          <p:cNvSpPr txBox="1"/>
          <p:nvPr/>
        </p:nvSpPr>
        <p:spPr>
          <a:xfrm>
            <a:off x="170494" y="396079"/>
            <a:ext cx="41283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Evidence of problems with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external</a:t>
            </a:r>
            <a:r>
              <a:rPr lang="en-US" sz="2800" dirty="0"/>
              <a:t> DSL</a:t>
            </a:r>
          </a:p>
        </p:txBody>
      </p:sp>
    </p:spTree>
    <p:extLst>
      <p:ext uri="{BB962C8B-B14F-4D97-AF65-F5344CB8AC3E}">
        <p14:creationId xmlns:p14="http://schemas.microsoft.com/office/powerpoint/2010/main" val="4235672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05EDA-57C3-5419-990E-566036012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197" y="371847"/>
            <a:ext cx="10828709" cy="1259626"/>
          </a:xfrm>
        </p:spPr>
        <p:txBody>
          <a:bodyPr>
            <a:normAutofit/>
          </a:bodyPr>
          <a:lstStyle/>
          <a:p>
            <a:r>
              <a:rPr lang="en-US" dirty="0"/>
              <a:t>Approach inspired by rule based programming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F997C5F-67ED-2941-2BB8-44FFDDFCF4AA}"/>
              </a:ext>
            </a:extLst>
          </p:cNvPr>
          <p:cNvGrpSpPr/>
          <p:nvPr/>
        </p:nvGrpSpPr>
        <p:grpSpPr>
          <a:xfrm>
            <a:off x="1143768" y="2783481"/>
            <a:ext cx="4715838" cy="2827077"/>
            <a:chOff x="3738081" y="2547990"/>
            <a:chExt cx="4715838" cy="2827077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00BEB284-B838-AB82-94D8-2E9011B4A4FE}"/>
                </a:ext>
              </a:extLst>
            </p:cNvPr>
            <p:cNvSpPr/>
            <p:nvPr/>
          </p:nvSpPr>
          <p:spPr>
            <a:xfrm>
              <a:off x="3994934" y="3470407"/>
              <a:ext cx="606176" cy="297950"/>
            </a:xfrm>
            <a:prstGeom prst="roundRect">
              <a:avLst/>
            </a:prstGeom>
            <a:solidFill>
              <a:srgbClr val="FF0000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ABC899D-2CDF-3771-E0D0-DC372B04D2A7}"/>
                </a:ext>
              </a:extLst>
            </p:cNvPr>
            <p:cNvSpPr/>
            <p:nvPr/>
          </p:nvSpPr>
          <p:spPr>
            <a:xfrm>
              <a:off x="6141370" y="3735307"/>
              <a:ext cx="606176" cy="297950"/>
            </a:xfrm>
            <a:prstGeom prst="roundRect">
              <a:avLst/>
            </a:prstGeom>
            <a:solidFill>
              <a:srgbClr val="9545E6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868F260D-0BBF-CEE1-0D9C-429E93161FD9}"/>
                </a:ext>
              </a:extLst>
            </p:cNvPr>
            <p:cNvSpPr/>
            <p:nvPr/>
          </p:nvSpPr>
          <p:spPr>
            <a:xfrm>
              <a:off x="5013780" y="3524132"/>
              <a:ext cx="606176" cy="297950"/>
            </a:xfrm>
            <a:prstGeom prst="round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EDC2B2EF-C8B9-0135-6FCE-0EB4F83FC73B}"/>
                </a:ext>
              </a:extLst>
            </p:cNvPr>
            <p:cNvSpPr/>
            <p:nvPr/>
          </p:nvSpPr>
          <p:spPr>
            <a:xfrm>
              <a:off x="6171342" y="4461908"/>
              <a:ext cx="606176" cy="297950"/>
            </a:xfrm>
            <a:prstGeom prst="roundRect">
              <a:avLst/>
            </a:prstGeom>
            <a:solidFill>
              <a:srgbClr val="0C7136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46274C6-66E6-5C34-65BF-88E94CEDC17C}"/>
                </a:ext>
              </a:extLst>
            </p:cNvPr>
            <p:cNvSpPr/>
            <p:nvPr/>
          </p:nvSpPr>
          <p:spPr>
            <a:xfrm>
              <a:off x="4407604" y="4197021"/>
              <a:ext cx="606176" cy="297950"/>
            </a:xfrm>
            <a:prstGeom prst="roundRect">
              <a:avLst/>
            </a:prstGeom>
            <a:solidFill>
              <a:srgbClr val="B4AFAF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7D909915-1D4A-62DE-234D-E7FCFAC6B0CB}"/>
                </a:ext>
              </a:extLst>
            </p:cNvPr>
            <p:cNvSpPr/>
            <p:nvPr/>
          </p:nvSpPr>
          <p:spPr>
            <a:xfrm>
              <a:off x="5363953" y="2901864"/>
              <a:ext cx="606176" cy="297950"/>
            </a:xfrm>
            <a:prstGeom prst="roundRect">
              <a:avLst/>
            </a:prstGeom>
            <a:solidFill>
              <a:schemeClr val="accent2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36CC7DE-9FA9-4AF9-4F80-797FECD73CE1}"/>
                </a:ext>
              </a:extLst>
            </p:cNvPr>
            <p:cNvSpPr/>
            <p:nvPr/>
          </p:nvSpPr>
          <p:spPr>
            <a:xfrm>
              <a:off x="7519824" y="3977372"/>
              <a:ext cx="606176" cy="297950"/>
            </a:xfrm>
            <a:prstGeom prst="roundRect">
              <a:avLst/>
            </a:prstGeom>
            <a:solidFill>
              <a:srgbClr val="FF0000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CABBD7D0-E107-3554-F97C-623D979A75B6}"/>
                </a:ext>
              </a:extLst>
            </p:cNvPr>
            <p:cNvSpPr/>
            <p:nvPr/>
          </p:nvSpPr>
          <p:spPr>
            <a:xfrm>
              <a:off x="5137929" y="4884663"/>
              <a:ext cx="606176" cy="297950"/>
            </a:xfrm>
            <a:prstGeom prst="roundRect">
              <a:avLst/>
            </a:prstGeom>
            <a:solidFill>
              <a:srgbClr val="FF0000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98CFFE3D-3A5E-D61D-164D-3B44DC15C07D}"/>
                </a:ext>
              </a:extLst>
            </p:cNvPr>
            <p:cNvSpPr/>
            <p:nvPr/>
          </p:nvSpPr>
          <p:spPr>
            <a:xfrm>
              <a:off x="7174784" y="4426158"/>
              <a:ext cx="606176" cy="297950"/>
            </a:xfrm>
            <a:prstGeom prst="round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8ADCDB6E-F885-F62A-3624-71F54B9DC962}"/>
                </a:ext>
              </a:extLst>
            </p:cNvPr>
            <p:cNvSpPr/>
            <p:nvPr/>
          </p:nvSpPr>
          <p:spPr>
            <a:xfrm>
              <a:off x="3998348" y="4710057"/>
              <a:ext cx="606176" cy="297950"/>
            </a:xfrm>
            <a:prstGeom prst="roundRect">
              <a:avLst/>
            </a:prstGeom>
            <a:solidFill>
              <a:srgbClr val="0C7136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D656BF18-EA21-C71E-11E6-97DE9798F260}"/>
                </a:ext>
              </a:extLst>
            </p:cNvPr>
            <p:cNvSpPr/>
            <p:nvPr/>
          </p:nvSpPr>
          <p:spPr>
            <a:xfrm>
              <a:off x="6659365" y="4924718"/>
              <a:ext cx="606176" cy="297950"/>
            </a:xfrm>
            <a:prstGeom prst="roundRect">
              <a:avLst/>
            </a:prstGeom>
            <a:solidFill>
              <a:srgbClr val="B4AFAF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84B81A9-1738-7FA3-C387-ED4D84B624EA}"/>
                </a:ext>
              </a:extLst>
            </p:cNvPr>
            <p:cNvSpPr/>
            <p:nvPr/>
          </p:nvSpPr>
          <p:spPr>
            <a:xfrm>
              <a:off x="5289473" y="4275322"/>
              <a:ext cx="606176" cy="297950"/>
            </a:xfrm>
            <a:prstGeom prst="roundRect">
              <a:avLst/>
            </a:prstGeom>
            <a:solidFill>
              <a:srgbClr val="B4AFAF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1FD8D370-7CE1-837D-5FBA-BBF44035D487}"/>
                </a:ext>
              </a:extLst>
            </p:cNvPr>
            <p:cNvSpPr/>
            <p:nvPr/>
          </p:nvSpPr>
          <p:spPr>
            <a:xfrm>
              <a:off x="7123414" y="2742352"/>
              <a:ext cx="606176" cy="297950"/>
            </a:xfrm>
            <a:prstGeom prst="roundRect">
              <a:avLst/>
            </a:prstGeom>
            <a:solidFill>
              <a:srgbClr val="B4AFAF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3A9286BE-004E-3EDF-43FB-622C4FEEBC74}"/>
                </a:ext>
              </a:extLst>
            </p:cNvPr>
            <p:cNvSpPr/>
            <p:nvPr/>
          </p:nvSpPr>
          <p:spPr>
            <a:xfrm>
              <a:off x="6913648" y="3327977"/>
              <a:ext cx="606176" cy="297950"/>
            </a:xfrm>
            <a:prstGeom prst="roundRect">
              <a:avLst/>
            </a:prstGeom>
            <a:solidFill>
              <a:schemeClr val="accent2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42448B4B-7B54-86AC-E767-32D470085A03}"/>
                </a:ext>
              </a:extLst>
            </p:cNvPr>
            <p:cNvSpPr/>
            <p:nvPr/>
          </p:nvSpPr>
          <p:spPr>
            <a:xfrm>
              <a:off x="7477872" y="4910430"/>
              <a:ext cx="606176" cy="297950"/>
            </a:xfrm>
            <a:prstGeom prst="roundRect">
              <a:avLst/>
            </a:prstGeom>
            <a:solidFill>
              <a:schemeClr val="accent2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an 19">
              <a:extLst>
                <a:ext uri="{FF2B5EF4-FFF2-40B4-BE49-F238E27FC236}">
                  <a16:creationId xmlns:a16="http://schemas.microsoft.com/office/drawing/2014/main" id="{0C8B7067-D5D0-1193-0B25-669194ED61FC}"/>
                </a:ext>
              </a:extLst>
            </p:cNvPr>
            <p:cNvSpPr/>
            <p:nvPr/>
          </p:nvSpPr>
          <p:spPr>
            <a:xfrm>
              <a:off x="3738081" y="2547990"/>
              <a:ext cx="4715838" cy="2827077"/>
            </a:xfrm>
            <a:prstGeom prst="ca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4B6D524-6AED-99C3-DA61-367939875E5E}"/>
              </a:ext>
            </a:extLst>
          </p:cNvPr>
          <p:cNvSpPr txBox="1"/>
          <p:nvPr/>
        </p:nvSpPr>
        <p:spPr>
          <a:xfrm>
            <a:off x="6470230" y="2834430"/>
            <a:ext cx="5494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rgbClr val="FF0000"/>
                </a:solidFill>
              </a:rPr>
              <a:t>F</a:t>
            </a:r>
            <a:r>
              <a:rPr lang="en-US" sz="3200" i="1" baseline="-25000" dirty="0">
                <a:solidFill>
                  <a:srgbClr val="FF0000"/>
                </a:solidFill>
              </a:rPr>
              <a:t>1</a:t>
            </a:r>
            <a:r>
              <a:rPr lang="en-US" sz="3200" i="1" dirty="0">
                <a:solidFill>
                  <a:srgbClr val="FF0000"/>
                </a:solidFill>
              </a:rPr>
              <a:t>(x</a:t>
            </a:r>
            <a:r>
              <a:rPr lang="en-US" sz="3200" i="1" baseline="-25000" dirty="0">
                <a:solidFill>
                  <a:srgbClr val="FF0000"/>
                </a:solidFill>
              </a:rPr>
              <a:t>1</a:t>
            </a:r>
            <a:r>
              <a:rPr lang="en-US" sz="3200" i="1" dirty="0">
                <a:solidFill>
                  <a:srgbClr val="FF0000"/>
                </a:solidFill>
              </a:rPr>
              <a:t>),…, ¬</a:t>
            </a:r>
            <a:r>
              <a:rPr lang="en-US" sz="3200" i="1" dirty="0" err="1">
                <a:solidFill>
                  <a:srgbClr val="FF0000"/>
                </a:solidFill>
              </a:rPr>
              <a:t>F</a:t>
            </a:r>
            <a:r>
              <a:rPr lang="en-US" sz="3200" i="1" baseline="-25000" dirty="0" err="1">
                <a:solidFill>
                  <a:srgbClr val="FF0000"/>
                </a:solidFill>
              </a:rPr>
              <a:t>n</a:t>
            </a:r>
            <a:r>
              <a:rPr lang="en-US" sz="3200" i="1" dirty="0">
                <a:solidFill>
                  <a:srgbClr val="FF0000"/>
                </a:solidFill>
              </a:rPr>
              <a:t>(</a:t>
            </a:r>
            <a:r>
              <a:rPr lang="en-US" sz="3200" i="1" dirty="0" err="1">
                <a:solidFill>
                  <a:srgbClr val="FF0000"/>
                </a:solidFill>
              </a:rPr>
              <a:t>x</a:t>
            </a:r>
            <a:r>
              <a:rPr lang="en-US" sz="3200" i="1" baseline="-25000" dirty="0" err="1">
                <a:solidFill>
                  <a:srgbClr val="FF0000"/>
                </a:solidFill>
              </a:rPr>
              <a:t>n</a:t>
            </a:r>
            <a:r>
              <a:rPr lang="en-US" sz="3200" i="1" dirty="0">
                <a:solidFill>
                  <a:srgbClr val="FF0000"/>
                </a:solidFill>
              </a:rPr>
              <a:t>)</a:t>
            </a:r>
            <a:r>
              <a:rPr lang="en-US" sz="3200" i="1" baseline="-25000" dirty="0">
                <a:solidFill>
                  <a:srgbClr val="FF0000"/>
                </a:solidFill>
              </a:rPr>
              <a:t> </a:t>
            </a:r>
            <a:r>
              <a:rPr lang="en-US" sz="3200" i="1" dirty="0">
                <a:solidFill>
                  <a:srgbClr val="FF0000"/>
                </a:solidFill>
              </a:rPr>
              <a:t>→ F</a:t>
            </a:r>
            <a:r>
              <a:rPr lang="en-US" sz="3200" i="1" baseline="-25000" dirty="0">
                <a:solidFill>
                  <a:srgbClr val="FF0000"/>
                </a:solidFill>
              </a:rPr>
              <a:t>i</a:t>
            </a:r>
            <a:r>
              <a:rPr lang="en-US" sz="3200" i="1" dirty="0">
                <a:solidFill>
                  <a:srgbClr val="FF0000"/>
                </a:solidFill>
              </a:rPr>
              <a:t>(</a:t>
            </a:r>
            <a:r>
              <a:rPr lang="en-US" sz="3200" i="1" dirty="0" err="1">
                <a:solidFill>
                  <a:srgbClr val="FF0000"/>
                </a:solidFill>
              </a:rPr>
              <a:t>e</a:t>
            </a:r>
            <a:r>
              <a:rPr lang="en-US" sz="3200" i="1" baseline="-25000" dirty="0" err="1">
                <a:solidFill>
                  <a:srgbClr val="FF0000"/>
                </a:solidFill>
              </a:rPr>
              <a:t>i</a:t>
            </a:r>
            <a:r>
              <a:rPr lang="en-US" sz="3200" i="1" dirty="0">
                <a:solidFill>
                  <a:srgbClr val="FF0000"/>
                </a:solidFill>
              </a:rPr>
              <a:t>) , ¬F</a:t>
            </a:r>
            <a:r>
              <a:rPr lang="en-US" sz="3200" i="1" baseline="-25000" dirty="0">
                <a:solidFill>
                  <a:srgbClr val="FF0000"/>
                </a:solidFill>
              </a:rPr>
              <a:t>j</a:t>
            </a:r>
            <a:r>
              <a:rPr lang="en-US" sz="3200" i="1" dirty="0">
                <a:solidFill>
                  <a:srgbClr val="FF0000"/>
                </a:solidFill>
              </a:rPr>
              <a:t>(</a:t>
            </a:r>
            <a:r>
              <a:rPr lang="en-US" sz="3200" i="1" dirty="0" err="1">
                <a:solidFill>
                  <a:srgbClr val="FF0000"/>
                </a:solidFill>
              </a:rPr>
              <a:t>e</a:t>
            </a:r>
            <a:r>
              <a:rPr lang="en-US" sz="3200" i="1" baseline="-25000" dirty="0" err="1">
                <a:solidFill>
                  <a:srgbClr val="FF0000"/>
                </a:solidFill>
              </a:rPr>
              <a:t>j</a:t>
            </a:r>
            <a:r>
              <a:rPr lang="en-US" sz="3200" i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ECE5BF-DD35-F386-D90F-9A216CB4D69E}"/>
              </a:ext>
            </a:extLst>
          </p:cNvPr>
          <p:cNvSpPr txBox="1"/>
          <p:nvPr/>
        </p:nvSpPr>
        <p:spPr>
          <a:xfrm>
            <a:off x="8415013" y="2195785"/>
            <a:ext cx="29815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Rule (transition):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26891B9-4EEE-4434-0340-685AD2EEDFED}"/>
              </a:ext>
            </a:extLst>
          </p:cNvPr>
          <p:cNvGrpSpPr/>
          <p:nvPr/>
        </p:nvGrpSpPr>
        <p:grpSpPr>
          <a:xfrm>
            <a:off x="6568378" y="1912426"/>
            <a:ext cx="889026" cy="1068996"/>
            <a:chOff x="6650669" y="1778034"/>
            <a:chExt cx="889026" cy="106899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C7A7A866-84D9-6DF6-0186-CCAE1DAB6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50669" y="1778034"/>
              <a:ext cx="835501" cy="83550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0159EA4-581F-9B56-40E5-C897916E302D}"/>
                </a:ext>
              </a:extLst>
            </p:cNvPr>
            <p:cNvSpPr txBox="1"/>
            <p:nvPr/>
          </p:nvSpPr>
          <p:spPr>
            <a:xfrm>
              <a:off x="6650669" y="2385365"/>
              <a:ext cx="8890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event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CC9C1D2D-99AD-EC15-BF1F-1BAAE83BC416}"/>
              </a:ext>
            </a:extLst>
          </p:cNvPr>
          <p:cNvSpPr txBox="1"/>
          <p:nvPr/>
        </p:nvSpPr>
        <p:spPr>
          <a:xfrm>
            <a:off x="1440163" y="2057633"/>
            <a:ext cx="4183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Monitor memory is a set of </a:t>
            </a:r>
            <a:r>
              <a:rPr lang="en-US" b="1" dirty="0">
                <a:solidFill>
                  <a:srgbClr val="FF0000"/>
                </a:solidFill>
              </a:rPr>
              <a:t>facts (states)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04F955-B33B-5586-7BBD-F28B6CC379CE}"/>
              </a:ext>
            </a:extLst>
          </p:cNvPr>
          <p:cNvSpPr txBox="1"/>
          <p:nvPr/>
        </p:nvSpPr>
        <p:spPr>
          <a:xfrm>
            <a:off x="7018030" y="6116821"/>
            <a:ext cx="324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an automaton look and feel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15F2E6F-002D-5A09-E0EB-A59F8E633EE5}"/>
              </a:ext>
            </a:extLst>
          </p:cNvPr>
          <p:cNvGrpSpPr/>
          <p:nvPr/>
        </p:nvGrpSpPr>
        <p:grpSpPr>
          <a:xfrm>
            <a:off x="5647304" y="3486190"/>
            <a:ext cx="5535417" cy="1836286"/>
            <a:chOff x="5647304" y="3486190"/>
            <a:chExt cx="5535417" cy="1836286"/>
          </a:xfrm>
        </p:grpSpPr>
        <p:cxnSp>
          <p:nvCxnSpPr>
            <p:cNvPr id="34" name="Elbow Connector 33">
              <a:extLst>
                <a:ext uri="{FF2B5EF4-FFF2-40B4-BE49-F238E27FC236}">
                  <a16:creationId xmlns:a16="http://schemas.microsoft.com/office/drawing/2014/main" id="{D33E9662-CD4A-9019-A366-4845BDD7F0C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647304" y="3486190"/>
              <a:ext cx="5535417" cy="1821823"/>
            </a:xfrm>
            <a:prstGeom prst="bentConnector3">
              <a:avLst>
                <a:gd name="adj1" fmla="val 16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7EA5BDD4-3FEB-707F-C771-CDDE3701C5CA}"/>
                </a:ext>
              </a:extLst>
            </p:cNvPr>
            <p:cNvSpPr/>
            <p:nvPr/>
          </p:nvSpPr>
          <p:spPr>
            <a:xfrm>
              <a:off x="9447668" y="4172736"/>
              <a:ext cx="606176" cy="297950"/>
            </a:xfrm>
            <a:prstGeom prst="roundRect">
              <a:avLst/>
            </a:prstGeom>
            <a:solidFill>
              <a:srgbClr val="9545E6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A2A42C5-F8A3-1540-2975-9B6B95E60952}"/>
                </a:ext>
              </a:extLst>
            </p:cNvPr>
            <p:cNvCxnSpPr>
              <a:cxnSpLocks/>
            </p:cNvCxnSpPr>
            <p:nvPr/>
          </p:nvCxnSpPr>
          <p:spPr>
            <a:xfrm>
              <a:off x="9725186" y="3486190"/>
              <a:ext cx="0" cy="5713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B682E63-0C24-5C9E-5CC9-AC35CD9E9DE5}"/>
                </a:ext>
              </a:extLst>
            </p:cNvPr>
            <p:cNvCxnSpPr/>
            <p:nvPr/>
          </p:nvCxnSpPr>
          <p:spPr>
            <a:xfrm flipH="1">
              <a:off x="6958739" y="4321711"/>
              <a:ext cx="2340244" cy="401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88B3D4C-7742-E934-8158-2DC65F5450EF}"/>
                </a:ext>
              </a:extLst>
            </p:cNvPr>
            <p:cNvSpPr txBox="1"/>
            <p:nvPr/>
          </p:nvSpPr>
          <p:spPr>
            <a:xfrm>
              <a:off x="8153348" y="4003848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B0F1AF-30DE-2FE1-AB75-070DB81747CD}"/>
                </a:ext>
              </a:extLst>
            </p:cNvPr>
            <p:cNvSpPr txBox="1"/>
            <p:nvPr/>
          </p:nvSpPr>
          <p:spPr>
            <a:xfrm>
              <a:off x="8044872" y="4953144"/>
              <a:ext cx="7788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delete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8192ECB-F9EB-5A74-FD2D-D139576B8C33}"/>
              </a:ext>
            </a:extLst>
          </p:cNvPr>
          <p:cNvGrpSpPr/>
          <p:nvPr/>
        </p:nvGrpSpPr>
        <p:grpSpPr>
          <a:xfrm>
            <a:off x="5001688" y="3187722"/>
            <a:ext cx="3413325" cy="1081026"/>
            <a:chOff x="5001688" y="3187722"/>
            <a:chExt cx="3413325" cy="1081026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98FCD40-92FD-A5D2-C485-8E7EA21E12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1688" y="3435305"/>
              <a:ext cx="1864061" cy="2691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A505B81-41C7-E889-5D18-64C7437828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68301" y="3495181"/>
              <a:ext cx="2746712" cy="7735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C751D21-CC41-A849-E8A1-1215AF287B1F}"/>
                </a:ext>
              </a:extLst>
            </p:cNvPr>
            <p:cNvSpPr txBox="1"/>
            <p:nvPr/>
          </p:nvSpPr>
          <p:spPr>
            <a:xfrm>
              <a:off x="5873328" y="3187722"/>
              <a:ext cx="721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check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69D8AA6-C1E1-951F-FCCF-D30B645C74E1}"/>
                </a:ext>
              </a:extLst>
            </p:cNvPr>
            <p:cNvSpPr txBox="1"/>
            <p:nvPr/>
          </p:nvSpPr>
          <p:spPr>
            <a:xfrm>
              <a:off x="6470230" y="3547976"/>
              <a:ext cx="721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check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3C69A81-55E8-B187-C33E-A9DAAF487BE4}"/>
              </a:ext>
            </a:extLst>
          </p:cNvPr>
          <p:cNvSpPr txBox="1"/>
          <p:nvPr/>
        </p:nvSpPr>
        <p:spPr>
          <a:xfrm>
            <a:off x="883278" y="5812033"/>
            <a:ext cx="5236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/>
              <a:t>Rule Systems for Run-Time Monitoring: from Eagle to </a:t>
            </a:r>
            <a:r>
              <a:rPr lang="en-US" sz="1600" b="1" i="1" dirty="0" err="1"/>
              <a:t>RuleR</a:t>
            </a:r>
            <a:br>
              <a:rPr lang="en-US" sz="1600" i="1" dirty="0"/>
            </a:br>
            <a:r>
              <a:rPr lang="en-US" sz="1600" i="1" dirty="0"/>
              <a:t>H. Barringer, D. </a:t>
            </a:r>
            <a:r>
              <a:rPr lang="en-US" sz="1600" i="1" dirty="0" err="1"/>
              <a:t>Rydeheard</a:t>
            </a:r>
            <a:r>
              <a:rPr lang="en-US" sz="1600" i="1" dirty="0"/>
              <a:t> and K. </a:t>
            </a:r>
            <a:r>
              <a:rPr lang="en-US" sz="1600" i="1" dirty="0" err="1"/>
              <a:t>Havelund</a:t>
            </a:r>
            <a:r>
              <a:rPr lang="en-US" sz="1600" i="1" dirty="0"/>
              <a:t>, RV 2007</a:t>
            </a:r>
          </a:p>
          <a:p>
            <a:r>
              <a:rPr lang="en-US" sz="1600" b="1" i="1" dirty="0"/>
              <a:t>Data Automata in Scala, </a:t>
            </a:r>
          </a:p>
          <a:p>
            <a:r>
              <a:rPr lang="en-US" sz="1600" i="1" dirty="0"/>
              <a:t>K. </a:t>
            </a:r>
            <a:r>
              <a:rPr lang="en-US" sz="1600" i="1" dirty="0" err="1"/>
              <a:t>Havelund</a:t>
            </a:r>
            <a:r>
              <a:rPr lang="en-US" sz="1600" i="1" dirty="0"/>
              <a:t>, TASE 2015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2204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194AF68A-BC17-B0D5-AEC8-1DC759CBE8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Using the API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008445-7A40-45BD-845E-41D653AA7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2170748"/>
            <a:ext cx="11036300" cy="32410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6562E4A6-C43B-2DE6-8E5B-A1C0AF5B2D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609600"/>
            <a:ext cx="7772400" cy="1143000"/>
          </a:xfrm>
        </p:spPr>
        <p:txBody>
          <a:bodyPr/>
          <a:lstStyle/>
          <a:p>
            <a:r>
              <a:rPr lang="en-US" altLang="en-US" dirty="0"/>
              <a:t>Definition of events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6B83D1-EDF3-FD64-163E-0E6985236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683" y="4120064"/>
            <a:ext cx="3501858" cy="9842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FD2B87-4BD0-B64F-084D-6369A8278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307" y="1844224"/>
            <a:ext cx="10008611" cy="1762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18D684-2266-EB15-782C-4CE609A03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993" y="5682214"/>
            <a:ext cx="9228013" cy="8862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C153B0-8A44-06C8-A409-392D974E8DE1}"/>
              </a:ext>
            </a:extLst>
          </p:cNvPr>
          <p:cNvSpPr txBox="1"/>
          <p:nvPr/>
        </p:nvSpPr>
        <p:spPr>
          <a:xfrm>
            <a:off x="1481993" y="5312882"/>
            <a:ext cx="1428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Requirement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itle 1">
            <a:extLst>
              <a:ext uri="{FF2B5EF4-FFF2-40B4-BE49-F238E27FC236}">
                <a16:creationId xmlns:a16="http://schemas.microsoft.com/office/drawing/2014/main" id="{7CB575C0-DB06-67C4-009D-32A056ADD3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9900" y="245679"/>
            <a:ext cx="2286000" cy="838200"/>
          </a:xfrm>
        </p:spPr>
        <p:txBody>
          <a:bodyPr/>
          <a:lstStyle/>
          <a:p>
            <a:r>
              <a:rPr lang="en-US" altLang="en-US" dirty="0"/>
              <a:t>Monitor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A4289A-4CD3-4D51-53A7-83BE53069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464" y="1656612"/>
            <a:ext cx="8978277" cy="5201388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139E66DD-0B9D-A8E6-619B-328E60808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8" y="1749268"/>
            <a:ext cx="233910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Andale Mono" panose="020B0509000000000004" pitchFamily="49" charset="0"/>
              </a:rPr>
              <a:t>transitions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Andale Mono" panose="020B0509000000000004" pitchFamily="49" charset="0"/>
              </a:rPr>
              <a:t>at outermost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Andale Mono" panose="020B0509000000000004" pitchFamily="49" charset="0"/>
              </a:rPr>
              <a:t>level are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Andale Mono" panose="020B0509000000000004" pitchFamily="49" charset="0"/>
              </a:rPr>
              <a:t>always enabled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97FC9C4-A373-097A-3A3C-A84C67876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9" y="3738096"/>
            <a:ext cx="3240801" cy="2926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5B71C3-8D1A-A7FF-80D7-0A19FCC86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728" y="315996"/>
            <a:ext cx="9228013" cy="8862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CD075C7-34E7-A7B7-5529-00E4A770D722}"/>
              </a:ext>
            </a:extLst>
          </p:cNvPr>
          <p:cNvGrpSpPr/>
          <p:nvPr/>
        </p:nvGrpSpPr>
        <p:grpSpPr>
          <a:xfrm>
            <a:off x="5250094" y="664779"/>
            <a:ext cx="3575407" cy="5427796"/>
            <a:chOff x="5250094" y="664779"/>
            <a:chExt cx="3575407" cy="542779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ADD92A5-702F-CF3B-55FB-2C4D7A0D4EBD}"/>
                </a:ext>
              </a:extLst>
            </p:cNvPr>
            <p:cNvCxnSpPr/>
            <p:nvPr/>
          </p:nvCxnSpPr>
          <p:spPr>
            <a:xfrm>
              <a:off x="5250094" y="664779"/>
              <a:ext cx="1356189" cy="205787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1E52338-F42D-EB81-CE56-2B1F6D7732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82447" y="759109"/>
              <a:ext cx="1743054" cy="533346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C0B697-6C15-A0F6-9823-B776068E7BA7}"/>
              </a:ext>
            </a:extLst>
          </p:cNvPr>
          <p:cNvGrpSpPr/>
          <p:nvPr/>
        </p:nvGrpSpPr>
        <p:grpSpPr>
          <a:xfrm>
            <a:off x="5698505" y="1024198"/>
            <a:ext cx="3658507" cy="4318364"/>
            <a:chOff x="5698505" y="1024198"/>
            <a:chExt cx="3658507" cy="4318364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07ED866-EB3C-C42B-0793-12559F8008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8505" y="1047491"/>
              <a:ext cx="270638" cy="2713898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DF1D867-0B2C-C01E-DD79-867F1D09D5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85214" y="1024198"/>
              <a:ext cx="2471798" cy="4318364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85AA0ACD-1A3A-C7CB-5915-81625BAA0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Visualization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CC9289-46BA-F963-8C0F-E1C908D68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320" y="1616075"/>
            <a:ext cx="62611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nt Arrow 1">
            <a:extLst>
              <a:ext uri="{FF2B5EF4-FFF2-40B4-BE49-F238E27FC236}">
                <a16:creationId xmlns:a16="http://schemas.microsoft.com/office/drawing/2014/main" id="{ECF88E77-B19E-2B2E-F11A-C4291E7BBB59}"/>
              </a:ext>
            </a:extLst>
          </p:cNvPr>
          <p:cNvSpPr/>
          <p:nvPr/>
        </p:nvSpPr>
        <p:spPr bwMode="auto">
          <a:xfrm rot="5400000">
            <a:off x="4751389" y="2537461"/>
            <a:ext cx="814387" cy="868363"/>
          </a:xfrm>
          <a:prstGeom prst="ben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ndale Mono" pitchFamily="-105" charset="0"/>
              <a:ea typeface="ＭＳ Ｐゴシック" pitchFamily="-105" charset="-128"/>
            </a:endParaRPr>
          </a:p>
        </p:txBody>
      </p:sp>
      <p:sp>
        <p:nvSpPr>
          <p:cNvPr id="3" name="Bent Arrow 2">
            <a:extLst>
              <a:ext uri="{FF2B5EF4-FFF2-40B4-BE49-F238E27FC236}">
                <a16:creationId xmlns:a16="http://schemas.microsoft.com/office/drawing/2014/main" id="{52F189BC-B8EB-4429-32A8-BA10B97C18BB}"/>
              </a:ext>
            </a:extLst>
          </p:cNvPr>
          <p:cNvSpPr/>
          <p:nvPr/>
        </p:nvSpPr>
        <p:spPr bwMode="auto">
          <a:xfrm>
            <a:off x="6745289" y="2537461"/>
            <a:ext cx="814387" cy="868363"/>
          </a:xfrm>
          <a:prstGeom prst="ben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ndale Mono" pitchFamily="-105" charset="0"/>
              <a:ea typeface="ＭＳ Ｐゴシック" pitchFamily="-105" charset="-128"/>
            </a:endParaRPr>
          </a:p>
        </p:txBody>
      </p:sp>
      <p:sp>
        <p:nvSpPr>
          <p:cNvPr id="36871" name="TextBox 6">
            <a:extLst>
              <a:ext uri="{FF2B5EF4-FFF2-40B4-BE49-F238E27FC236}">
                <a16:creationId xmlns:a16="http://schemas.microsoft.com/office/drawing/2014/main" id="{EF7F8AC8-0ED8-DABF-CCDC-58FE9D426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451" y="3083560"/>
            <a:ext cx="15414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ndale Mono" panose="020B0509000000000004" pitchFamily="49" charset="0"/>
              </a:rPr>
              <a:t>Meta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ndale Mono" panose="020B0509000000000004" pitchFamily="49" charset="0"/>
              </a:rPr>
              <a:t>programming</a:t>
            </a:r>
          </a:p>
        </p:txBody>
      </p:sp>
      <p:sp>
        <p:nvSpPr>
          <p:cNvPr id="36872" name="TextBox 8">
            <a:extLst>
              <a:ext uri="{FF2B5EF4-FFF2-40B4-BE49-F238E27FC236}">
                <a16:creationId xmlns:a16="http://schemas.microsoft.com/office/drawing/2014/main" id="{6AD1D3E1-51D6-33CD-3DF6-800DFD102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626" y="3110549"/>
            <a:ext cx="11715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ndale Mono" panose="020B0509000000000004" pitchFamily="49" charset="0"/>
              </a:rPr>
              <a:t>PlantUML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F3DDA1-1954-A403-DCAB-EA51A532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45226"/>
            <a:ext cx="3882708" cy="2249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DBAB15-1D40-3F47-AB2A-0D6209D83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256" y="1223444"/>
            <a:ext cx="3126424" cy="24351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176122-E8E2-83F4-460F-851AA3266F7D}"/>
              </a:ext>
            </a:extLst>
          </p:cNvPr>
          <p:cNvSpPr txBox="1"/>
          <p:nvPr/>
        </p:nvSpPr>
        <p:spPr>
          <a:xfrm>
            <a:off x="2616518" y="3864929"/>
            <a:ext cx="7419022" cy="280076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@</a:t>
            </a:r>
            <a:r>
              <a:rPr lang="en-US" sz="1600" dirty="0" err="1"/>
              <a:t>startuml</a:t>
            </a:r>
            <a:br>
              <a:rPr lang="en-US" sz="1600" dirty="0"/>
            </a:br>
            <a:r>
              <a:rPr lang="en-US" sz="1600" dirty="0"/>
              <a:t>state M1{</a:t>
            </a:r>
            <a:br>
              <a:rPr lang="en-US" sz="1600" dirty="0"/>
            </a:br>
            <a:r>
              <a:rPr lang="en-US" sz="1600" dirty="0"/>
              <a:t>  [*] -&gt; __Always__</a:t>
            </a:r>
            <a:br>
              <a:rPr lang="en-US" sz="1600" dirty="0"/>
            </a:br>
            <a:r>
              <a:rPr lang="en-US" sz="1600" dirty="0"/>
              <a:t>  state __Always__ #green</a:t>
            </a:r>
            <a:br>
              <a:rPr lang="en-US" sz="1600" dirty="0"/>
            </a:br>
            <a:r>
              <a:rPr lang="en-US" sz="1600" dirty="0"/>
              <a:t>  state </a:t>
            </a:r>
            <a:r>
              <a:rPr lang="en-US" sz="1600" dirty="0" err="1"/>
              <a:t>DoRelease</a:t>
            </a:r>
            <a:r>
              <a:rPr lang="en-US" sz="1600" dirty="0"/>
              <a:t> #yellow : thread : str\</a:t>
            </a:r>
            <a:r>
              <a:rPr lang="en-US" sz="1600" dirty="0" err="1"/>
              <a:t>nlock</a:t>
            </a:r>
            <a:r>
              <a:rPr lang="en-US" sz="1600" dirty="0"/>
              <a:t> : int</a:t>
            </a:r>
            <a:br>
              <a:rPr lang="en-US" sz="1600" dirty="0"/>
            </a:br>
            <a:r>
              <a:rPr lang="en-US" sz="1600" dirty="0"/>
              <a:t>  __Always__ --&gt; </a:t>
            </a:r>
            <a:r>
              <a:rPr lang="en-US" sz="1600" dirty="0" err="1"/>
              <a:t>DoRelease</a:t>
            </a:r>
            <a:r>
              <a:rPr lang="en-US" sz="1600" dirty="0"/>
              <a:t> : **Acquire(thread, lock)**\n---&gt;\n(</a:t>
            </a:r>
            <a:r>
              <a:rPr lang="en-US" sz="1600" dirty="0" err="1"/>
              <a:t>thread,lock</a:t>
            </a:r>
            <a:r>
              <a:rPr lang="en-US" sz="1600" dirty="0"/>
              <a:t>)</a:t>
            </a:r>
            <a:br>
              <a:rPr lang="en-US" sz="1600" dirty="0"/>
            </a:br>
            <a:r>
              <a:rPr lang="en-US" sz="1600" dirty="0"/>
              <a:t>  state error #red</a:t>
            </a:r>
            <a:br>
              <a:rPr lang="en-US" sz="1600" dirty="0"/>
            </a:br>
            <a:r>
              <a:rPr lang="en-US" sz="1600" dirty="0"/>
              <a:t>  </a:t>
            </a:r>
            <a:r>
              <a:rPr lang="en-US" sz="1600" dirty="0" err="1"/>
              <a:t>DoRelease</a:t>
            </a:r>
            <a:r>
              <a:rPr lang="en-US" sz="1600" dirty="0"/>
              <a:t> --&gt; error : 1 **Acquire(thread, </a:t>
            </a:r>
            <a:r>
              <a:rPr lang="en-US" sz="1600" dirty="0" err="1"/>
              <a:t>self.lock</a:t>
            </a:r>
            <a:r>
              <a:rPr lang="en-US" sz="1600" dirty="0"/>
              <a:t>)**\</a:t>
            </a:r>
            <a:r>
              <a:rPr lang="en-US" sz="1600" dirty="0" err="1"/>
              <a:t>nthread</a:t>
            </a:r>
            <a:r>
              <a:rPr lang="en-US" sz="1600" dirty="0"/>
              <a:t> != </a:t>
            </a:r>
            <a:r>
              <a:rPr lang="en-US" sz="1600" dirty="0" err="1"/>
              <a:t>self.thread</a:t>
            </a:r>
            <a:br>
              <a:rPr lang="en-US" sz="1600" dirty="0"/>
            </a:br>
            <a:r>
              <a:rPr lang="en-US" sz="1600" dirty="0"/>
              <a:t>  </a:t>
            </a:r>
            <a:r>
              <a:rPr lang="en-US" sz="1600" dirty="0" err="1"/>
              <a:t>DoRelease</a:t>
            </a:r>
            <a:r>
              <a:rPr lang="en-US" sz="1600" dirty="0"/>
              <a:t> --&gt; [*] : 2 **Release(</a:t>
            </a:r>
            <a:r>
              <a:rPr lang="en-US" sz="1600" dirty="0" err="1"/>
              <a:t>self.thread</a:t>
            </a:r>
            <a:r>
              <a:rPr lang="en-US" sz="1600" dirty="0"/>
              <a:t>, </a:t>
            </a:r>
            <a:r>
              <a:rPr lang="en-US" sz="1600" dirty="0" err="1"/>
              <a:t>self.lock</a:t>
            </a:r>
            <a:r>
              <a:rPr lang="en-US" sz="1600" dirty="0"/>
              <a:t>)**</a:t>
            </a:r>
            <a:br>
              <a:rPr lang="en-US" sz="1600" dirty="0"/>
            </a:br>
            <a:r>
              <a:rPr lang="en-US" sz="1600" dirty="0"/>
              <a:t>}</a:t>
            </a:r>
            <a:br>
              <a:rPr lang="en-US" sz="1600" dirty="0"/>
            </a:br>
            <a:r>
              <a:rPr lang="en-US" sz="1600" dirty="0"/>
              <a:t>@</a:t>
            </a:r>
            <a:r>
              <a:rPr lang="en-US" sz="1600" dirty="0" err="1"/>
              <a:t>enduml</a:t>
            </a:r>
            <a:endParaRPr lang="en-US" sz="16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BF7A041-2FD1-DF52-F006-F99018DF7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dirty="0"/>
              <a:t>Visualization using </a:t>
            </a:r>
            <a:r>
              <a:rPr lang="en-US" altLang="en-US" dirty="0" err="1"/>
              <a:t>PlantUML</a:t>
            </a: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2C2C44-70BA-5C03-DFE9-EF915E2CDD32}"/>
              </a:ext>
            </a:extLst>
          </p:cNvPr>
          <p:cNvSpPr txBox="1"/>
          <p:nvPr/>
        </p:nvSpPr>
        <p:spPr>
          <a:xfrm>
            <a:off x="4788300" y="2035028"/>
            <a:ext cx="6746557" cy="35394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1600" dirty="0"/>
          </a:p>
          <a:p>
            <a:r>
              <a:rPr lang="en-US" sz="1600" dirty="0"/>
              <a:t>============</a:t>
            </a:r>
          </a:p>
          <a:p>
            <a:r>
              <a:rPr lang="en-US" sz="1600" dirty="0"/>
              <a:t>Analysis result:</a:t>
            </a:r>
          </a:p>
          <a:p>
            <a:r>
              <a:rPr lang="en-US" sz="1600" dirty="0"/>
              <a:t>============</a:t>
            </a:r>
          </a:p>
          <a:p>
            <a:endParaRPr lang="en-US" sz="1600" dirty="0"/>
          </a:p>
          <a:p>
            <a:r>
              <a:rPr lang="en-US" sz="1600" dirty="0"/>
              <a:t>2 reports!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</a:rPr>
              <a:t>*** error transition in M1: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   state </a:t>
            </a:r>
            <a:r>
              <a:rPr lang="en-US" sz="1600" dirty="0" err="1">
                <a:solidFill>
                  <a:srgbClr val="FF0000"/>
                </a:solidFill>
              </a:rPr>
              <a:t>DoRelease</a:t>
            </a:r>
            <a:r>
              <a:rPr lang="en-US" sz="1600" dirty="0">
                <a:solidFill>
                  <a:srgbClr val="FF0000"/>
                </a:solidFill>
              </a:rPr>
              <a:t>('T2', 2)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   event 3 Acquire(thread='T1', lock=2)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   double acquisition</a:t>
            </a: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FF0000"/>
                </a:solidFill>
              </a:rPr>
              <a:t>*** error at end in M1: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   terminates in hot state </a:t>
            </a:r>
            <a:r>
              <a:rPr lang="en-US" sz="1600" dirty="0" err="1">
                <a:solidFill>
                  <a:srgbClr val="FF0000"/>
                </a:solidFill>
              </a:rPr>
              <a:t>DoRelease</a:t>
            </a:r>
            <a:r>
              <a:rPr lang="en-US" sz="1600" dirty="0">
                <a:solidFill>
                  <a:srgbClr val="FF0000"/>
                </a:solidFill>
              </a:rPr>
              <a:t>('T1', 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3DF25B-E321-5289-924C-23D1AEF92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" y="1846580"/>
            <a:ext cx="3886200" cy="3916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8696C9-4310-0239-1608-D12E4F84DA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dirty="0"/>
              <a:t>Applying the monitor</a:t>
            </a:r>
          </a:p>
        </p:txBody>
      </p:sp>
    </p:spTree>
    <p:extLst>
      <p:ext uri="{BB962C8B-B14F-4D97-AF65-F5344CB8AC3E}">
        <p14:creationId xmlns:p14="http://schemas.microsoft.com/office/powerpoint/2010/main" val="122603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5">
            <a:extLst>
              <a:ext uri="{FF2B5EF4-FFF2-40B4-BE49-F238E27FC236}">
                <a16:creationId xmlns:a16="http://schemas.microsoft.com/office/drawing/2014/main" id="{679FC5CB-EE33-7CBD-1864-76155DC519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83820"/>
            <a:ext cx="1577340" cy="130683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Debug</a:t>
            </a:r>
            <a:br>
              <a:rPr lang="en-US" altLang="en-US" dirty="0"/>
            </a:br>
            <a:r>
              <a:rPr lang="en-US" altLang="en-US" dirty="0"/>
              <a:t>mode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9E075-CC50-6788-D5DF-4F98E76D64A1}"/>
              </a:ext>
            </a:extLst>
          </p:cNvPr>
          <p:cNvSpPr txBox="1"/>
          <p:nvPr/>
        </p:nvSpPr>
        <p:spPr>
          <a:xfrm>
            <a:off x="3414713" y="237768"/>
            <a:ext cx="6097904" cy="652486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Event 1 Acquire(thread='T1', lock=1)</a:t>
            </a:r>
          </a:p>
          <a:p>
            <a:r>
              <a:rPr lang="en-US" sz="2000" dirty="0"/>
              <a:t>----------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DoRelease</a:t>
            </a:r>
            <a:r>
              <a:rPr lang="en-US" sz="2000" dirty="0">
                <a:solidFill>
                  <a:srgbClr val="0070C0"/>
                </a:solidFill>
              </a:rPr>
              <a:t>('T1', 1)</a:t>
            </a:r>
          </a:p>
          <a:p>
            <a:endParaRPr lang="en-US" sz="2000" dirty="0"/>
          </a:p>
          <a:p>
            <a:r>
              <a:rPr lang="en-US" sz="2000" b="1" dirty="0"/>
              <a:t>Event 2 Acquire(thread='T2', lock=2)</a:t>
            </a:r>
          </a:p>
          <a:p>
            <a:r>
              <a:rPr lang="en-US" sz="2000" dirty="0"/>
              <a:t>----------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DoRelease</a:t>
            </a:r>
            <a:r>
              <a:rPr lang="en-US" sz="2000" dirty="0">
                <a:solidFill>
                  <a:srgbClr val="0070C0"/>
                </a:solidFill>
              </a:rPr>
              <a:t>('T1', 1)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DoRelease</a:t>
            </a:r>
            <a:r>
              <a:rPr lang="en-US" sz="2000" dirty="0">
                <a:solidFill>
                  <a:srgbClr val="0070C0"/>
                </a:solidFill>
              </a:rPr>
              <a:t>('T2', 2)</a:t>
            </a:r>
          </a:p>
          <a:p>
            <a:endParaRPr lang="en-US" sz="2000" dirty="0"/>
          </a:p>
          <a:p>
            <a:r>
              <a:rPr lang="en-US" sz="2000" b="1" dirty="0"/>
              <a:t>Event 3 Acquire(thread='T1', lock=2)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*** error transition in M1: …</a:t>
            </a:r>
          </a:p>
          <a:p>
            <a:r>
              <a:rPr lang="en-US" sz="2000" dirty="0"/>
              <a:t>----------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DoRelease</a:t>
            </a:r>
            <a:r>
              <a:rPr lang="en-US" sz="2000" dirty="0">
                <a:solidFill>
                  <a:srgbClr val="0070C0"/>
                </a:solidFill>
              </a:rPr>
              <a:t>('T1', 1)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DoRelease</a:t>
            </a:r>
            <a:r>
              <a:rPr lang="en-US" sz="2000" dirty="0">
                <a:solidFill>
                  <a:srgbClr val="0070C0"/>
                </a:solidFill>
              </a:rPr>
              <a:t>('T1', 2)</a:t>
            </a:r>
          </a:p>
          <a:p>
            <a:endParaRPr lang="en-US" sz="2000" dirty="0"/>
          </a:p>
          <a:p>
            <a:r>
              <a:rPr lang="en-US" sz="2000" b="1" dirty="0"/>
              <a:t>Event 4 Release(thread='T1', lock=2)</a:t>
            </a:r>
          </a:p>
          <a:p>
            <a:r>
              <a:rPr lang="en-US" sz="2000" dirty="0"/>
              <a:t>----------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DoRelease</a:t>
            </a:r>
            <a:r>
              <a:rPr lang="en-US" sz="2000" dirty="0">
                <a:solidFill>
                  <a:srgbClr val="0070C0"/>
                </a:solidFill>
              </a:rPr>
              <a:t>('T1', 1)</a:t>
            </a:r>
          </a:p>
          <a:p>
            <a:endParaRPr lang="en-US" sz="2000" dirty="0"/>
          </a:p>
          <a:p>
            <a:r>
              <a:rPr lang="en-US" sz="2000" dirty="0"/>
              <a:t>Terminating monitoring!</a:t>
            </a:r>
          </a:p>
          <a:p>
            <a:r>
              <a:rPr lang="en-US" sz="2000" dirty="0">
                <a:solidFill>
                  <a:srgbClr val="FF0000"/>
                </a:solidFill>
              </a:rPr>
              <a:t>*** error at end in M1: 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29CF50EE-6DF4-BFCA-4512-09FD538F3A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Referring to the past</a:t>
            </a:r>
          </a:p>
        </p:txBody>
      </p:sp>
      <p:sp>
        <p:nvSpPr>
          <p:cNvPr id="40963" name="TextBox 13">
            <a:extLst>
              <a:ext uri="{FF2B5EF4-FFF2-40B4-BE49-F238E27FC236}">
                <a16:creationId xmlns:a16="http://schemas.microsoft.com/office/drawing/2014/main" id="{824325DF-606E-FC61-EFA8-3309298DE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7430" y="4310380"/>
            <a:ext cx="884889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ndale Mono" panose="020B0509000000000004" pitchFamily="49" charset="0"/>
              </a:rPr>
              <a:t>States in memory represent things that happened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ndale Mono" panose="020B0509000000000004" pitchFamily="49" charset="0"/>
              </a:rPr>
              <a:t>in the </a:t>
            </a:r>
            <a:r>
              <a:rPr lang="en-US" altLang="en-US" sz="2400" b="1" dirty="0">
                <a:latin typeface="Andale Mono" panose="020B0509000000000004" pitchFamily="49" charset="0"/>
              </a:rPr>
              <a:t>past</a:t>
            </a:r>
            <a:r>
              <a:rPr lang="en-US" altLang="en-US" sz="2400" dirty="0">
                <a:latin typeface="Andale Mono" panose="020B0509000000000004" pitchFamily="49" charset="0"/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Andale Mono" panose="020B05090000000000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ndale Mono" panose="020B0509000000000004" pitchFamily="49" charset="0"/>
              </a:rPr>
              <a:t>We want to be able to ask whether a certain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Andale Mono" panose="020B0509000000000004" pitchFamily="49" charset="0"/>
              </a:rPr>
              <a:t>state exists</a:t>
            </a:r>
            <a:r>
              <a:rPr lang="en-US" altLang="en-US" sz="2400" dirty="0">
                <a:latin typeface="Andale Mono" panose="020B0509000000000004" pitchFamily="49" charset="0"/>
              </a:rPr>
              <a:t>, with constraints on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30B1FD-D4A9-12A0-8D4A-A55D59D49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290" y="1393508"/>
            <a:ext cx="4188460" cy="2787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553E57-A4DF-7BDB-9799-180D35F1258A}"/>
              </a:ext>
            </a:extLst>
          </p:cNvPr>
          <p:cNvSpPr txBox="1"/>
          <p:nvPr/>
        </p:nvSpPr>
        <p:spPr>
          <a:xfrm>
            <a:off x="723900" y="2289381"/>
            <a:ext cx="2461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there exists a state</a:t>
            </a:r>
          </a:p>
          <a:p>
            <a:r>
              <a:rPr lang="en-US" dirty="0"/>
              <a:t>satisfying a predicate </a:t>
            </a:r>
            <a:r>
              <a:rPr lang="en-US" i="1" dirty="0"/>
              <a:t>P</a:t>
            </a:r>
            <a:r>
              <a:rPr lang="en-US" dirty="0"/>
              <a:t>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00BFE1-0067-079D-87B4-B7C0BE27C312}"/>
              </a:ext>
            </a:extLst>
          </p:cNvPr>
          <p:cNvCxnSpPr/>
          <p:nvPr/>
        </p:nvCxnSpPr>
        <p:spPr>
          <a:xfrm>
            <a:off x="3337560" y="2612547"/>
            <a:ext cx="115443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F42479-F8CC-19CF-4991-F74C89BB8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60" y="2551430"/>
            <a:ext cx="9718748" cy="26035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9A4DD1-C29A-BCD3-B9BE-3998E2371DAD}"/>
              </a:ext>
            </a:extLst>
          </p:cNvPr>
          <p:cNvSpPr txBox="1"/>
          <p:nvPr/>
        </p:nvSpPr>
        <p:spPr>
          <a:xfrm>
            <a:off x="1318260" y="2182098"/>
            <a:ext cx="1428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Requirement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BDFB70-FEAF-FA6C-5D2D-0B4C50CB1F4B}"/>
              </a:ext>
            </a:extLst>
          </p:cNvPr>
          <p:cNvGrpSpPr/>
          <p:nvPr/>
        </p:nvGrpSpPr>
        <p:grpSpPr>
          <a:xfrm>
            <a:off x="580140" y="3582670"/>
            <a:ext cx="10175490" cy="2529820"/>
            <a:chOff x="580140" y="3582670"/>
            <a:chExt cx="10175490" cy="25298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D12BCF-C045-547B-8F68-46200699B530}"/>
                </a:ext>
              </a:extLst>
            </p:cNvPr>
            <p:cNvSpPr txBox="1"/>
            <p:nvPr/>
          </p:nvSpPr>
          <p:spPr>
            <a:xfrm>
              <a:off x="580141" y="5589270"/>
              <a:ext cx="29047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past time property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F6277A2-5FFB-BCCE-9329-294E9AFA9BBF}"/>
                </a:ext>
              </a:extLst>
            </p:cNvPr>
            <p:cNvCxnSpPr>
              <a:cxnSpLocks/>
            </p:cNvCxnSpPr>
            <p:nvPr/>
          </p:nvCxnSpPr>
          <p:spPr>
            <a:xfrm>
              <a:off x="1474470" y="3933190"/>
              <a:ext cx="928116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3A7B51A-9CFD-8F82-0907-F0C0A54CA1F9}"/>
                </a:ext>
              </a:extLst>
            </p:cNvPr>
            <p:cNvCxnSpPr>
              <a:cxnSpLocks/>
            </p:cNvCxnSpPr>
            <p:nvPr/>
          </p:nvCxnSpPr>
          <p:spPr>
            <a:xfrm>
              <a:off x="1474470" y="3582670"/>
              <a:ext cx="928116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Elbow Connector 12">
              <a:extLst>
                <a:ext uri="{FF2B5EF4-FFF2-40B4-BE49-F238E27FC236}">
                  <a16:creationId xmlns:a16="http://schemas.microsoft.com/office/drawing/2014/main" id="{C8FEA3A1-FEB6-C4B5-FEA8-10D9B290DAFA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580140" y="3773170"/>
              <a:ext cx="738119" cy="2089140"/>
            </a:xfrm>
            <a:prstGeom prst="bentConnector3">
              <a:avLst>
                <a:gd name="adj1" fmla="val -30971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itle 1">
            <a:extLst>
              <a:ext uri="{FF2B5EF4-FFF2-40B4-BE49-F238E27FC236}">
                <a16:creationId xmlns:a16="http://schemas.microsoft.com/office/drawing/2014/main" id="{7CB575C0-DB06-67C4-009D-32A056ADD3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8739" y="339090"/>
            <a:ext cx="2286000" cy="838200"/>
          </a:xfrm>
        </p:spPr>
        <p:txBody>
          <a:bodyPr/>
          <a:lstStyle/>
          <a:p>
            <a:r>
              <a:rPr lang="en-US" altLang="en-US" dirty="0"/>
              <a:t>Monitor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0893A7-287B-33F4-068E-0DA68C875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909" y="0"/>
            <a:ext cx="5313762" cy="6858000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4921E47D-36B0-3AD3-F5CB-EB3559CF57F0}"/>
              </a:ext>
            </a:extLst>
          </p:cNvPr>
          <p:cNvGrpSpPr/>
          <p:nvPr/>
        </p:nvGrpSpPr>
        <p:grpSpPr>
          <a:xfrm>
            <a:off x="6096000" y="163160"/>
            <a:ext cx="3500365" cy="369332"/>
            <a:chOff x="6096000" y="163160"/>
            <a:chExt cx="3500365" cy="3693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0BBE1FD-5602-2A68-89D3-C2DAF78DF156}"/>
                </a:ext>
              </a:extLst>
            </p:cNvPr>
            <p:cNvSpPr txBox="1"/>
            <p:nvPr/>
          </p:nvSpPr>
          <p:spPr>
            <a:xfrm>
              <a:off x="8432841" y="163160"/>
              <a:ext cx="1163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Parameter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D3C19B6-E373-3757-647A-35BF3D07FDA1}"/>
                </a:ext>
              </a:extLst>
            </p:cNvPr>
            <p:cNvCxnSpPr>
              <a:cxnSpLocks/>
              <a:stCxn id="4" idx="1"/>
            </p:cNvCxnSpPr>
            <p:nvPr/>
          </p:nvCxnSpPr>
          <p:spPr>
            <a:xfrm flipH="1">
              <a:off x="6096000" y="347826"/>
              <a:ext cx="2336841" cy="372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B1993F-914B-E49F-7B21-23AC31D942CE}"/>
              </a:ext>
            </a:extLst>
          </p:cNvPr>
          <p:cNvGrpSpPr/>
          <p:nvPr/>
        </p:nvGrpSpPr>
        <p:grpSpPr>
          <a:xfrm>
            <a:off x="5288146" y="510029"/>
            <a:ext cx="5384860" cy="369332"/>
            <a:chOff x="5288146" y="510029"/>
            <a:chExt cx="5384860" cy="36933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BC9F6A9-3711-A421-1167-99BBD12DA3FA}"/>
                </a:ext>
              </a:extLst>
            </p:cNvPr>
            <p:cNvSpPr txBox="1"/>
            <p:nvPr/>
          </p:nvSpPr>
          <p:spPr>
            <a:xfrm>
              <a:off x="8432841" y="510029"/>
              <a:ext cx="22401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Monitor local variable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5E6AC4-F60E-1832-2221-D1B928A41751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>
              <a:off x="5288146" y="694695"/>
              <a:ext cx="3144695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EFC07B0-B67B-CFF8-CAFC-16039C58B424}"/>
              </a:ext>
            </a:extLst>
          </p:cNvPr>
          <p:cNvGrpSpPr/>
          <p:nvPr/>
        </p:nvGrpSpPr>
        <p:grpSpPr>
          <a:xfrm>
            <a:off x="6263640" y="1423809"/>
            <a:ext cx="4447197" cy="369332"/>
            <a:chOff x="6263640" y="1423809"/>
            <a:chExt cx="4447197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9EF5A8-CBFB-DC4E-3D98-D07549F3EFB4}"/>
                </a:ext>
              </a:extLst>
            </p:cNvPr>
            <p:cNvSpPr txBox="1"/>
            <p:nvPr/>
          </p:nvSpPr>
          <p:spPr>
            <a:xfrm>
              <a:off x="8432841" y="1423809"/>
              <a:ext cx="227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Searching set of states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F1245A8-F87C-B0C0-2C72-74E5534156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3640" y="1632610"/>
              <a:ext cx="2150285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962B4FF-19C0-5E22-0442-81CD204FAB74}"/>
              </a:ext>
            </a:extLst>
          </p:cNvPr>
          <p:cNvGrpSpPr/>
          <p:nvPr/>
        </p:nvGrpSpPr>
        <p:grpSpPr>
          <a:xfrm>
            <a:off x="7120890" y="1795110"/>
            <a:ext cx="2913159" cy="369332"/>
            <a:chOff x="7120890" y="1795110"/>
            <a:chExt cx="2913159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6C42835-39E8-CB36-3B1C-53E56E29CEDB}"/>
                </a:ext>
              </a:extLst>
            </p:cNvPr>
            <p:cNvSpPr txBox="1"/>
            <p:nvPr/>
          </p:nvSpPr>
          <p:spPr>
            <a:xfrm>
              <a:off x="8413925" y="1795110"/>
              <a:ext cx="162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Checking count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294F5AB-896C-2B78-3BE0-BCD9760D29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0890" y="1964591"/>
              <a:ext cx="131195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53F0DA-3793-9E15-BD7D-198338DD370D}"/>
              </a:ext>
            </a:extLst>
          </p:cNvPr>
          <p:cNvGrpSpPr/>
          <p:nvPr/>
        </p:nvGrpSpPr>
        <p:grpSpPr>
          <a:xfrm>
            <a:off x="6464914" y="2020271"/>
            <a:ext cx="2981153" cy="369332"/>
            <a:chOff x="6464914" y="2020271"/>
            <a:chExt cx="2981153" cy="369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33408D-96C5-BC0C-208D-5C776FFB3811}"/>
                </a:ext>
              </a:extLst>
            </p:cNvPr>
            <p:cNvSpPr txBox="1"/>
            <p:nvPr/>
          </p:nvSpPr>
          <p:spPr>
            <a:xfrm>
              <a:off x="8413925" y="2020271"/>
              <a:ext cx="10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Counting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E40E419-9F3E-E9D8-6F59-06622421B8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64914" y="2139851"/>
              <a:ext cx="194901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A26F4FD-1B6F-97DC-7B5D-E76F270111E6}"/>
              </a:ext>
            </a:extLst>
          </p:cNvPr>
          <p:cNvGrpSpPr/>
          <p:nvPr/>
        </p:nvGrpSpPr>
        <p:grpSpPr>
          <a:xfrm>
            <a:off x="6755130" y="2303447"/>
            <a:ext cx="4104854" cy="369332"/>
            <a:chOff x="6755130" y="2303447"/>
            <a:chExt cx="4104854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D56CB63-C161-71B4-38F9-01F03C4B55C2}"/>
                </a:ext>
              </a:extLst>
            </p:cNvPr>
            <p:cNvSpPr txBox="1"/>
            <p:nvPr/>
          </p:nvSpPr>
          <p:spPr>
            <a:xfrm>
              <a:off x="8421688" y="2303447"/>
              <a:ext cx="24382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Returning a list of states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E855588-600B-F0AC-251D-42360C965F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5130" y="2488113"/>
              <a:ext cx="167771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A5369A3-AAB2-814A-71DE-F9FEDD02DE6D}"/>
              </a:ext>
            </a:extLst>
          </p:cNvPr>
          <p:cNvGrpSpPr/>
          <p:nvPr/>
        </p:nvGrpSpPr>
        <p:grpSpPr>
          <a:xfrm>
            <a:off x="6755130" y="2818833"/>
            <a:ext cx="3936791" cy="369332"/>
            <a:chOff x="6755130" y="2818833"/>
            <a:chExt cx="3936791" cy="36933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8A1A87-F14C-DAB6-7EBE-8D50683A9721}"/>
                </a:ext>
              </a:extLst>
            </p:cNvPr>
            <p:cNvSpPr txBox="1"/>
            <p:nvPr/>
          </p:nvSpPr>
          <p:spPr>
            <a:xfrm>
              <a:off x="8413925" y="2818833"/>
              <a:ext cx="227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Searching set of states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1B7D393-393D-11FF-D8E6-F56CDB1A6B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5130" y="3003499"/>
              <a:ext cx="167771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18E0EEC-01F6-922A-4DEC-F58C7A3C93CC}"/>
              </a:ext>
            </a:extLst>
          </p:cNvPr>
          <p:cNvGrpSpPr/>
          <p:nvPr/>
        </p:nvGrpSpPr>
        <p:grpSpPr>
          <a:xfrm>
            <a:off x="7776865" y="4538987"/>
            <a:ext cx="3094272" cy="369332"/>
            <a:chOff x="7776865" y="4538987"/>
            <a:chExt cx="3094272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7E6DCC-20DF-140D-2FF8-CC1A2EF0A3C0}"/>
                </a:ext>
              </a:extLst>
            </p:cNvPr>
            <p:cNvSpPr txBox="1"/>
            <p:nvPr/>
          </p:nvSpPr>
          <p:spPr>
            <a:xfrm>
              <a:off x="8432841" y="4538987"/>
              <a:ext cx="24382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Returning a list of states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372CDFD-CA30-B6EB-F2CA-44663C121C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76865" y="4713442"/>
              <a:ext cx="637060" cy="102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A203B57-5E31-0345-E7DB-E701863AAD45}"/>
              </a:ext>
            </a:extLst>
          </p:cNvPr>
          <p:cNvGrpSpPr/>
          <p:nvPr/>
        </p:nvGrpSpPr>
        <p:grpSpPr>
          <a:xfrm>
            <a:off x="5288146" y="5474672"/>
            <a:ext cx="4907613" cy="369332"/>
            <a:chOff x="5288146" y="5474672"/>
            <a:chExt cx="4907613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DCC071-0BE9-183D-561F-602BAE8FD63E}"/>
                </a:ext>
              </a:extLst>
            </p:cNvPr>
            <p:cNvSpPr txBox="1"/>
            <p:nvPr/>
          </p:nvSpPr>
          <p:spPr>
            <a:xfrm>
              <a:off x="8413925" y="5474672"/>
              <a:ext cx="17818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Acceptance state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95930B-B428-5CE3-949A-A97FFDD27D60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flipH="1">
              <a:off x="5288146" y="5659338"/>
              <a:ext cx="3125779" cy="102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458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40A2F2-C02C-1BEA-8936-CB097C150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" y="777240"/>
            <a:ext cx="11912928" cy="45948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A6B6C-A915-2787-CBF5-9460655D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F94E4-6B4C-0ECE-A51A-7A6AB7ABB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Different types of states: </a:t>
            </a:r>
          </a:p>
          <a:p>
            <a:pPr lvl="1"/>
            <a:r>
              <a:rPr lang="en-US" dirty="0"/>
              <a:t>State, </a:t>
            </a:r>
            <a:r>
              <a:rPr lang="en-US" dirty="0" err="1"/>
              <a:t>HotState</a:t>
            </a:r>
            <a:r>
              <a:rPr lang="en-US" dirty="0"/>
              <a:t>, </a:t>
            </a:r>
            <a:r>
              <a:rPr lang="en-US" dirty="0" err="1"/>
              <a:t>NextState</a:t>
            </a:r>
            <a:r>
              <a:rPr lang="en-US" dirty="0"/>
              <a:t>, </a:t>
            </a:r>
            <a:r>
              <a:rPr lang="en-US" dirty="0" err="1"/>
              <a:t>HotNextState</a:t>
            </a:r>
            <a:r>
              <a:rPr lang="en-US" dirty="0"/>
              <a:t>, </a:t>
            </a:r>
            <a:r>
              <a:rPr lang="en-US" dirty="0" err="1"/>
              <a:t>AlwaysState</a:t>
            </a:r>
            <a:endParaRPr lang="en-US" dirty="0"/>
          </a:p>
          <a:p>
            <a:pPr lvl="1"/>
            <a:r>
              <a:rPr lang="en-US" dirty="0"/>
              <a:t>Differ in how they react when: </a:t>
            </a:r>
          </a:p>
          <a:p>
            <a:pPr lvl="2"/>
            <a:r>
              <a:rPr lang="en-US" dirty="0"/>
              <a:t>an event matches a transition</a:t>
            </a:r>
          </a:p>
          <a:p>
            <a:pPr lvl="2"/>
            <a:r>
              <a:rPr lang="en-US" dirty="0"/>
              <a:t>an event does not match any transition</a:t>
            </a:r>
          </a:p>
          <a:p>
            <a:pPr lvl="2"/>
            <a:r>
              <a:rPr lang="en-US" dirty="0"/>
              <a:t>the end of the trace is reached (if reached)</a:t>
            </a:r>
          </a:p>
          <a:p>
            <a:endParaRPr lang="en-US" dirty="0"/>
          </a:p>
          <a:p>
            <a:r>
              <a:rPr lang="en-US" dirty="0"/>
              <a:t>User defined indexing (slicing) for optimizing lookup of states</a:t>
            </a:r>
          </a:p>
          <a:p>
            <a:endParaRPr lang="en-US" dirty="0"/>
          </a:p>
          <a:p>
            <a:r>
              <a:rPr lang="en-US" dirty="0"/>
              <a:t>Monitors can be combined, forming a hierarchy of monitors, useful for conceptual modularization of requirements</a:t>
            </a:r>
          </a:p>
        </p:txBody>
      </p:sp>
    </p:spTree>
    <p:extLst>
      <p:ext uri="{BB962C8B-B14F-4D97-AF65-F5344CB8AC3E}">
        <p14:creationId xmlns:p14="http://schemas.microsoft.com/office/powerpoint/2010/main" val="2004504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7F004B-6992-B9CC-731D-CC543DCF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9FFA8-4030-49FD-1A3C-A916912B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829493"/>
            <a:ext cx="10515600" cy="150018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Comparing to: </a:t>
            </a:r>
          </a:p>
          <a:p>
            <a:pPr marL="342900" indent="-342900">
              <a:buFontTx/>
              <a:buChar char="-"/>
            </a:pPr>
            <a:r>
              <a:rPr lang="en-US" dirty="0"/>
              <a:t>The internal shallow Scala DSL </a:t>
            </a:r>
            <a:r>
              <a:rPr lang="en-US" b="1" dirty="0">
                <a:solidFill>
                  <a:srgbClr val="FF0000"/>
                </a:solidFill>
              </a:rPr>
              <a:t>Daut</a:t>
            </a:r>
            <a:r>
              <a:rPr lang="en-US" dirty="0"/>
              <a:t> (which inspired </a:t>
            </a:r>
            <a:r>
              <a:rPr lang="en-US" dirty="0" err="1"/>
              <a:t>PyContract</a:t>
            </a:r>
            <a:r>
              <a:rPr lang="en-US" dirty="0"/>
              <a:t>)</a:t>
            </a:r>
          </a:p>
          <a:p>
            <a:pPr marL="342900" indent="-342900">
              <a:buFontTx/>
              <a:buChar char="-"/>
            </a:pPr>
            <a:r>
              <a:rPr lang="en-US" dirty="0"/>
              <a:t>The internal deep Java DSL </a:t>
            </a:r>
            <a:r>
              <a:rPr lang="en-US" b="1" dirty="0">
                <a:solidFill>
                  <a:srgbClr val="FF0000"/>
                </a:solidFill>
              </a:rPr>
              <a:t>QEA</a:t>
            </a:r>
            <a:r>
              <a:rPr lang="en-US" dirty="0"/>
              <a:t> (one of thee fastest RV systems around)</a:t>
            </a:r>
          </a:p>
          <a:p>
            <a:pPr marL="342900" indent="-342900">
              <a:buFontTx/>
              <a:buChar char="-"/>
            </a:pPr>
            <a:r>
              <a:rPr lang="en-US" dirty="0"/>
              <a:t>The external DSL </a:t>
            </a:r>
            <a:r>
              <a:rPr lang="en-US" b="1" dirty="0" err="1">
                <a:solidFill>
                  <a:srgbClr val="FF0000"/>
                </a:solidFill>
              </a:rPr>
              <a:t>CommaSuite</a:t>
            </a:r>
            <a:r>
              <a:rPr lang="en-US" dirty="0"/>
              <a:t> from Philips (inspired by the </a:t>
            </a:r>
            <a:r>
              <a:rPr lang="en-US" dirty="0" err="1"/>
              <a:t>RuleR</a:t>
            </a:r>
            <a:r>
              <a:rPr lang="en-US" dirty="0"/>
              <a:t> system)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EF5045-27B9-67BD-93AA-667D1F47E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109" y="2687136"/>
            <a:ext cx="1695995" cy="200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89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83593F-5124-01B9-1291-C9F1AD48E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83" y="1583690"/>
            <a:ext cx="10002757" cy="398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68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6E8A1B-E6C5-5897-FA80-9DBF9C76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79" y="433706"/>
            <a:ext cx="10923271" cy="1323176"/>
          </a:xfrm>
        </p:spPr>
        <p:txBody>
          <a:bodyPr>
            <a:normAutofit/>
          </a:bodyPr>
          <a:lstStyle/>
          <a:p>
            <a:r>
              <a:rPr lang="en-US" dirty="0"/>
              <a:t>Comparison with external DSL translated to C++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58D720-5EF5-EA7B-328C-9D341936AA5A}"/>
              </a:ext>
            </a:extLst>
          </p:cNvPr>
          <p:cNvSpPr txBox="1"/>
          <p:nvPr/>
        </p:nvSpPr>
        <p:spPr>
          <a:xfrm>
            <a:off x="1085850" y="6009689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PyContract</a:t>
            </a:r>
            <a:r>
              <a:rPr lang="en-US" dirty="0"/>
              <a:t> (in Python) performs better than external DSL translated to C++ since pattern matching is directly </a:t>
            </a:r>
          </a:p>
          <a:p>
            <a:r>
              <a:rPr lang="en-US" dirty="0"/>
              <a:t>supported in Python but had to be implemented in C++.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94F63E-640D-04AA-7B6C-EDFA3ED7F846}"/>
              </a:ext>
            </a:extLst>
          </p:cNvPr>
          <p:cNvSpPr txBox="1"/>
          <p:nvPr/>
        </p:nvSpPr>
        <p:spPr>
          <a:xfrm>
            <a:off x="287938" y="3203287"/>
            <a:ext cx="4033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ISoLA</a:t>
            </a:r>
            <a:r>
              <a:rPr lang="en-US" dirty="0"/>
              <a:t> 2022 paper: </a:t>
            </a:r>
          </a:p>
          <a:p>
            <a:r>
              <a:rPr lang="en-US" dirty="0"/>
              <a:t>“Specification-based Monitoring in C++”, </a:t>
            </a:r>
          </a:p>
          <a:p>
            <a:r>
              <a:rPr lang="en-US" dirty="0"/>
              <a:t>K. </a:t>
            </a:r>
            <a:r>
              <a:rPr lang="en-US" dirty="0" err="1"/>
              <a:t>Havelund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709302-EC68-76FA-11A3-093C29AEA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735" y="1442128"/>
            <a:ext cx="7441627" cy="444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53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A0715E5A-7FD2-5716-1C75-5A0B44FAF9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Conclusions</a:t>
            </a:r>
          </a:p>
        </p:txBody>
      </p:sp>
      <p:sp>
        <p:nvSpPr>
          <p:cNvPr id="58370" name="Content Placeholder 2">
            <a:extLst>
              <a:ext uri="{FF2B5EF4-FFF2-40B4-BE49-F238E27FC236}">
                <a16:creationId xmlns:a16="http://schemas.microsoft.com/office/drawing/2014/main" id="{17FCC515-5276-60F1-98DC-0BB6061C33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A shallow internal DSL in a popular programming language has advantages: expressiveness, ease of infusion, taking advantage of development tools, taking advantage of other libraries (e.g. such as Pandas for data analysis), fast development, reduced maintenance.</a:t>
            </a:r>
          </a:p>
          <a:p>
            <a:r>
              <a:rPr lang="en-US" altLang="en-US" dirty="0" err="1"/>
              <a:t>PyContract</a:t>
            </a:r>
            <a:r>
              <a:rPr lang="en-US" altLang="en-US" dirty="0"/>
              <a:t> performs reasonably well.</a:t>
            </a:r>
          </a:p>
          <a:p>
            <a:r>
              <a:rPr lang="en-US" altLang="en-US" dirty="0" err="1"/>
              <a:t>PyContract</a:t>
            </a:r>
            <a:r>
              <a:rPr lang="en-US" altLang="en-US" dirty="0"/>
              <a:t> is being applied within JPL to mission logs of the Europa Clipper mission.</a:t>
            </a:r>
          </a:p>
          <a:p>
            <a:r>
              <a:rPr lang="en-US" altLang="en-US" dirty="0"/>
              <a:t>Future work:</a:t>
            </a:r>
          </a:p>
          <a:p>
            <a:pPr lvl="1"/>
            <a:r>
              <a:rPr lang="en-US" altLang="en-US" dirty="0"/>
              <a:t>Combine RV with data analysis (</a:t>
            </a:r>
            <a:r>
              <a:rPr lang="en-US" altLang="en-US" dirty="0" err="1"/>
              <a:t>ISoLA</a:t>
            </a:r>
            <a:r>
              <a:rPr lang="en-US" altLang="en-US" dirty="0"/>
              <a:t> 2022 paper: “Runtime Verification as Documentation” – D. Dams, K. </a:t>
            </a:r>
            <a:r>
              <a:rPr lang="en-US" altLang="en-US" dirty="0" err="1"/>
              <a:t>Havelund</a:t>
            </a:r>
            <a:r>
              <a:rPr lang="en-US" altLang="en-US" dirty="0"/>
              <a:t>, and S. Kauffman)</a:t>
            </a:r>
          </a:p>
          <a:p>
            <a:pPr lvl="1"/>
            <a:r>
              <a:rPr lang="en-US" altLang="en-US" dirty="0"/>
              <a:t>Explore other library concepts (alternatives and extensions)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AAA19B-6C23-7F28-6634-0E3C99E24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850" y="2138808"/>
            <a:ext cx="34163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094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63188254-E729-3BA4-6972-87140E05D3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Combining monitors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1979AB-1C0B-15B5-8BA1-09AF10CD02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2438400"/>
            <a:ext cx="5156200" cy="3124200"/>
          </a:xfrm>
          <a:ln w="38100" cap="sq">
            <a:solidFill>
              <a:srgbClr val="000000"/>
            </a:solidFill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1203" name="Picture 6">
            <a:extLst>
              <a:ext uri="{FF2B5EF4-FFF2-40B4-BE49-F238E27FC236}">
                <a16:creationId xmlns:a16="http://schemas.microsoft.com/office/drawing/2014/main" id="{863C9065-7152-9A88-D2A3-FBE6395BD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4267200"/>
            <a:ext cx="2662238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8111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5001E196-BB1B-1D9A-B77B-A27271C26E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Five kinds of states</a:t>
            </a:r>
          </a:p>
        </p:txBody>
      </p:sp>
      <p:pic>
        <p:nvPicPr>
          <p:cNvPr id="43010" name="Content Placeholder 4">
            <a:extLst>
              <a:ext uri="{FF2B5EF4-FFF2-40B4-BE49-F238E27FC236}">
                <a16:creationId xmlns:a16="http://schemas.microsoft.com/office/drawing/2014/main" id="{17E7A820-9C8C-0488-C00D-B411536BE5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35200" y="1981200"/>
            <a:ext cx="7721600" cy="4114800"/>
          </a:xfrm>
        </p:spPr>
      </p:pic>
    </p:spTree>
    <p:extLst>
      <p:ext uri="{BB962C8B-B14F-4D97-AF65-F5344CB8AC3E}">
        <p14:creationId xmlns:p14="http://schemas.microsoft.com/office/powerpoint/2010/main" val="22984210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05EDA-57C3-5419-990E-566036012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set of states: </a:t>
            </a:r>
            <a:br>
              <a:rPr lang="en-US" dirty="0"/>
            </a:br>
            <a:r>
              <a:rPr lang="en-US" dirty="0"/>
              <a:t>we have to search for each event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BEB284-B838-AB82-94D8-2E9011B4A4FE}"/>
              </a:ext>
            </a:extLst>
          </p:cNvPr>
          <p:cNvSpPr/>
          <p:nvPr/>
        </p:nvSpPr>
        <p:spPr>
          <a:xfrm>
            <a:off x="3994934" y="3470407"/>
            <a:ext cx="606176" cy="297950"/>
          </a:xfrm>
          <a:prstGeom prst="roundRect">
            <a:avLst/>
          </a:prstGeom>
          <a:solidFill>
            <a:srgbClr val="FF0000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ABC899D-2CDF-3771-E0D0-DC372B04D2A7}"/>
              </a:ext>
            </a:extLst>
          </p:cNvPr>
          <p:cNvSpPr/>
          <p:nvPr/>
        </p:nvSpPr>
        <p:spPr>
          <a:xfrm>
            <a:off x="6141370" y="3735307"/>
            <a:ext cx="606176" cy="297950"/>
          </a:xfrm>
          <a:prstGeom prst="roundRect">
            <a:avLst/>
          </a:prstGeom>
          <a:solidFill>
            <a:srgbClr val="9545E6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8F260D-0BBF-CEE1-0D9C-429E93161FD9}"/>
              </a:ext>
            </a:extLst>
          </p:cNvPr>
          <p:cNvSpPr/>
          <p:nvPr/>
        </p:nvSpPr>
        <p:spPr>
          <a:xfrm>
            <a:off x="5013780" y="3524132"/>
            <a:ext cx="606176" cy="297950"/>
          </a:xfrm>
          <a:prstGeom prst="roundRect">
            <a:avLst/>
          </a:prstGeom>
          <a:solidFill>
            <a:srgbClr val="FFFF00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DC2B2EF-C8B9-0135-6FCE-0EB4F83FC73B}"/>
              </a:ext>
            </a:extLst>
          </p:cNvPr>
          <p:cNvSpPr/>
          <p:nvPr/>
        </p:nvSpPr>
        <p:spPr>
          <a:xfrm>
            <a:off x="6171342" y="4461908"/>
            <a:ext cx="606176" cy="297950"/>
          </a:xfrm>
          <a:prstGeom prst="roundRect">
            <a:avLst/>
          </a:prstGeom>
          <a:solidFill>
            <a:srgbClr val="0C7136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46274C6-66E6-5C34-65BF-88E94CEDC17C}"/>
              </a:ext>
            </a:extLst>
          </p:cNvPr>
          <p:cNvSpPr/>
          <p:nvPr/>
        </p:nvSpPr>
        <p:spPr>
          <a:xfrm>
            <a:off x="4407604" y="4197021"/>
            <a:ext cx="606176" cy="297950"/>
          </a:xfrm>
          <a:prstGeom prst="roundRect">
            <a:avLst/>
          </a:prstGeom>
          <a:solidFill>
            <a:srgbClr val="B4AFAF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D909915-1D4A-62DE-234D-E7FCFAC6B0CB}"/>
              </a:ext>
            </a:extLst>
          </p:cNvPr>
          <p:cNvSpPr/>
          <p:nvPr/>
        </p:nvSpPr>
        <p:spPr>
          <a:xfrm>
            <a:off x="5363953" y="2901864"/>
            <a:ext cx="606176" cy="297950"/>
          </a:xfrm>
          <a:prstGeom prst="roundRect">
            <a:avLst/>
          </a:prstGeom>
          <a:solidFill>
            <a:schemeClr val="accent2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36CC7DE-9FA9-4AF9-4F80-797FECD73CE1}"/>
              </a:ext>
            </a:extLst>
          </p:cNvPr>
          <p:cNvSpPr/>
          <p:nvPr/>
        </p:nvSpPr>
        <p:spPr>
          <a:xfrm>
            <a:off x="7519824" y="3977372"/>
            <a:ext cx="606176" cy="297950"/>
          </a:xfrm>
          <a:prstGeom prst="roundRect">
            <a:avLst/>
          </a:prstGeom>
          <a:solidFill>
            <a:srgbClr val="FF0000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BBD7D0-E107-3554-F97C-623D979A75B6}"/>
              </a:ext>
            </a:extLst>
          </p:cNvPr>
          <p:cNvSpPr/>
          <p:nvPr/>
        </p:nvSpPr>
        <p:spPr>
          <a:xfrm>
            <a:off x="5137929" y="4884663"/>
            <a:ext cx="606176" cy="297950"/>
          </a:xfrm>
          <a:prstGeom prst="roundRect">
            <a:avLst/>
          </a:prstGeom>
          <a:solidFill>
            <a:srgbClr val="FF0000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8CFFE3D-3A5E-D61D-164D-3B44DC15C07D}"/>
              </a:ext>
            </a:extLst>
          </p:cNvPr>
          <p:cNvSpPr/>
          <p:nvPr/>
        </p:nvSpPr>
        <p:spPr>
          <a:xfrm>
            <a:off x="7174784" y="4426158"/>
            <a:ext cx="606176" cy="297950"/>
          </a:xfrm>
          <a:prstGeom prst="roundRect">
            <a:avLst/>
          </a:prstGeom>
          <a:solidFill>
            <a:srgbClr val="FFFF00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ADCDB6E-F885-F62A-3624-71F54B9DC962}"/>
              </a:ext>
            </a:extLst>
          </p:cNvPr>
          <p:cNvSpPr/>
          <p:nvPr/>
        </p:nvSpPr>
        <p:spPr>
          <a:xfrm>
            <a:off x="3998348" y="4710057"/>
            <a:ext cx="606176" cy="297950"/>
          </a:xfrm>
          <a:prstGeom prst="roundRect">
            <a:avLst/>
          </a:prstGeom>
          <a:solidFill>
            <a:srgbClr val="0C7136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656BF18-EA21-C71E-11E6-97DE9798F260}"/>
              </a:ext>
            </a:extLst>
          </p:cNvPr>
          <p:cNvSpPr/>
          <p:nvPr/>
        </p:nvSpPr>
        <p:spPr>
          <a:xfrm>
            <a:off x="6659365" y="4924718"/>
            <a:ext cx="606176" cy="297950"/>
          </a:xfrm>
          <a:prstGeom prst="roundRect">
            <a:avLst/>
          </a:prstGeom>
          <a:solidFill>
            <a:srgbClr val="B4AFAF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84B81A9-1738-7FA3-C387-ED4D84B624EA}"/>
              </a:ext>
            </a:extLst>
          </p:cNvPr>
          <p:cNvSpPr/>
          <p:nvPr/>
        </p:nvSpPr>
        <p:spPr>
          <a:xfrm>
            <a:off x="5289473" y="4275322"/>
            <a:ext cx="606176" cy="297950"/>
          </a:xfrm>
          <a:prstGeom prst="roundRect">
            <a:avLst/>
          </a:prstGeom>
          <a:solidFill>
            <a:srgbClr val="B4AFAF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FD8D370-7CE1-837D-5FBA-BBF44035D487}"/>
              </a:ext>
            </a:extLst>
          </p:cNvPr>
          <p:cNvSpPr/>
          <p:nvPr/>
        </p:nvSpPr>
        <p:spPr>
          <a:xfrm>
            <a:off x="7123414" y="2742352"/>
            <a:ext cx="606176" cy="297950"/>
          </a:xfrm>
          <a:prstGeom prst="roundRect">
            <a:avLst/>
          </a:prstGeom>
          <a:solidFill>
            <a:srgbClr val="B4AFAF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A9286BE-004E-3EDF-43FB-622C4FEEBC74}"/>
              </a:ext>
            </a:extLst>
          </p:cNvPr>
          <p:cNvSpPr/>
          <p:nvPr/>
        </p:nvSpPr>
        <p:spPr>
          <a:xfrm>
            <a:off x="6913648" y="3327977"/>
            <a:ext cx="606176" cy="297950"/>
          </a:xfrm>
          <a:prstGeom prst="roundRect">
            <a:avLst/>
          </a:prstGeom>
          <a:solidFill>
            <a:schemeClr val="accent2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2448B4B-7B54-86AC-E767-32D470085A03}"/>
              </a:ext>
            </a:extLst>
          </p:cNvPr>
          <p:cNvSpPr/>
          <p:nvPr/>
        </p:nvSpPr>
        <p:spPr>
          <a:xfrm>
            <a:off x="7477872" y="4910430"/>
            <a:ext cx="606176" cy="297950"/>
          </a:xfrm>
          <a:prstGeom prst="roundRect">
            <a:avLst/>
          </a:prstGeom>
          <a:solidFill>
            <a:schemeClr val="accent2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an 19">
            <a:extLst>
              <a:ext uri="{FF2B5EF4-FFF2-40B4-BE49-F238E27FC236}">
                <a16:creationId xmlns:a16="http://schemas.microsoft.com/office/drawing/2014/main" id="{0C8B7067-D5D0-1193-0B25-669194ED61FC}"/>
              </a:ext>
            </a:extLst>
          </p:cNvPr>
          <p:cNvSpPr/>
          <p:nvPr/>
        </p:nvSpPr>
        <p:spPr>
          <a:xfrm>
            <a:off x="3738081" y="2547990"/>
            <a:ext cx="4715838" cy="2827077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B6D524-6AED-99C3-DA61-367939875E5E}"/>
              </a:ext>
            </a:extLst>
          </p:cNvPr>
          <p:cNvSpPr txBox="1"/>
          <p:nvPr/>
        </p:nvSpPr>
        <p:spPr>
          <a:xfrm>
            <a:off x="785649" y="3771726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Acquire(‘T1’, 1)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991BE6D-9614-F540-0697-A972E7AAF286}"/>
              </a:ext>
            </a:extLst>
          </p:cNvPr>
          <p:cNvCxnSpPr/>
          <p:nvPr/>
        </p:nvCxnSpPr>
        <p:spPr>
          <a:xfrm>
            <a:off x="2675823" y="3977372"/>
            <a:ext cx="866274" cy="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3B7F45A-C60E-602D-C938-F8E34D96DF05}"/>
              </a:ext>
            </a:extLst>
          </p:cNvPr>
          <p:cNvSpPr txBox="1"/>
          <p:nvPr/>
        </p:nvSpPr>
        <p:spPr>
          <a:xfrm>
            <a:off x="3033343" y="3524132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069582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A72C8ADC-3597-3FD9-5D2C-DBE227ADFC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Indexing</a:t>
            </a:r>
          </a:p>
        </p:txBody>
      </p:sp>
      <p:pic>
        <p:nvPicPr>
          <p:cNvPr id="52229" name="Picture 10">
            <a:extLst>
              <a:ext uri="{FF2B5EF4-FFF2-40B4-BE49-F238E27FC236}">
                <a16:creationId xmlns:a16="http://schemas.microsoft.com/office/drawing/2014/main" id="{30FE8B71-A656-58D7-82F0-31A831B0D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520" y="1877694"/>
            <a:ext cx="7859713" cy="4389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10650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85DC7625-81DA-CF67-6B0D-42F74B1A28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NextState and HotNextState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518AB1-59C9-A4A8-FA49-7555BCC60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70" y="2938986"/>
            <a:ext cx="10232460" cy="17918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6FF336-3E0A-12C6-93E0-5EC0023AB00A}"/>
              </a:ext>
            </a:extLst>
          </p:cNvPr>
          <p:cNvSpPr txBox="1"/>
          <p:nvPr/>
        </p:nvSpPr>
        <p:spPr>
          <a:xfrm>
            <a:off x="632460" y="2569654"/>
            <a:ext cx="1428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Requirement</a:t>
            </a:r>
          </a:p>
        </p:txBody>
      </p:sp>
    </p:spTree>
    <p:extLst>
      <p:ext uri="{BB962C8B-B14F-4D97-AF65-F5344CB8AC3E}">
        <p14:creationId xmlns:p14="http://schemas.microsoft.com/office/powerpoint/2010/main" val="7532194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FCF924-C900-C551-FCF6-A7976A65B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069" y="428332"/>
            <a:ext cx="8429843" cy="600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389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AF67B1-DCB4-BFED-0A52-72C76CCAD502}"/>
              </a:ext>
            </a:extLst>
          </p:cNvPr>
          <p:cNvSpPr txBox="1"/>
          <p:nvPr/>
        </p:nvSpPr>
        <p:spPr>
          <a:xfrm>
            <a:off x="6619876" y="1897380"/>
            <a:ext cx="4832984" cy="47089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Event 1 Acquire(thread='T1', lock=1)</a:t>
            </a:r>
          </a:p>
          <a:p>
            <a:r>
              <a:rPr lang="en-US" sz="2000" dirty="0"/>
              <a:t>----------</a:t>
            </a:r>
          </a:p>
          <a:p>
            <a:r>
              <a:rPr lang="en-US" sz="2000" dirty="0">
                <a:solidFill>
                  <a:srgbClr val="00B050"/>
                </a:solidFill>
              </a:rPr>
              <a:t>index 1:</a:t>
            </a:r>
          </a:p>
          <a:p>
            <a:r>
              <a:rPr lang="en-US" sz="2000" dirty="0"/>
              <a:t>  </a:t>
            </a:r>
            <a:r>
              <a:rPr lang="en-US" sz="2000" dirty="0" err="1">
                <a:solidFill>
                  <a:schemeClr val="accent1"/>
                </a:solidFill>
              </a:rPr>
              <a:t>DoRelease</a:t>
            </a:r>
            <a:r>
              <a:rPr lang="en-US" sz="2000" dirty="0">
                <a:solidFill>
                  <a:schemeClr val="accent1"/>
                </a:solidFill>
              </a:rPr>
              <a:t>('T1', 1)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Event 2 Acquire(thread='T2', lock=2)</a:t>
            </a:r>
          </a:p>
          <a:p>
            <a:r>
              <a:rPr lang="en-US" sz="2000" dirty="0"/>
              <a:t>----------</a:t>
            </a:r>
          </a:p>
          <a:p>
            <a:r>
              <a:rPr lang="en-US" sz="2000" dirty="0">
                <a:solidFill>
                  <a:srgbClr val="00B050"/>
                </a:solidFill>
              </a:rPr>
              <a:t>index 1:</a:t>
            </a:r>
          </a:p>
          <a:p>
            <a:r>
              <a:rPr lang="en-US" sz="2000" dirty="0"/>
              <a:t>  </a:t>
            </a:r>
            <a:r>
              <a:rPr lang="en-US" sz="2000" dirty="0" err="1">
                <a:solidFill>
                  <a:schemeClr val="accent1"/>
                </a:solidFill>
              </a:rPr>
              <a:t>DoRelease</a:t>
            </a:r>
            <a:r>
              <a:rPr lang="en-US" sz="2000" dirty="0">
                <a:solidFill>
                  <a:schemeClr val="accent1"/>
                </a:solidFill>
              </a:rPr>
              <a:t>('T1', 1)</a:t>
            </a:r>
          </a:p>
          <a:p>
            <a:r>
              <a:rPr lang="en-US" sz="2000" dirty="0">
                <a:solidFill>
                  <a:srgbClr val="00B050"/>
                </a:solidFill>
              </a:rPr>
              <a:t>index 2:</a:t>
            </a:r>
          </a:p>
          <a:p>
            <a:r>
              <a:rPr lang="en-US" sz="2000" dirty="0"/>
              <a:t>  </a:t>
            </a:r>
            <a:r>
              <a:rPr lang="en-US" sz="2000" dirty="0" err="1">
                <a:solidFill>
                  <a:schemeClr val="accent1"/>
                </a:solidFill>
              </a:rPr>
              <a:t>DoRelease</a:t>
            </a:r>
            <a:r>
              <a:rPr lang="en-US" sz="2000" dirty="0">
                <a:solidFill>
                  <a:schemeClr val="accent1"/>
                </a:solidFill>
              </a:rPr>
              <a:t>('T2', 2)</a:t>
            </a:r>
          </a:p>
          <a:p>
            <a:r>
              <a:rPr lang="en-US" sz="2000" dirty="0"/>
              <a:t>----------</a:t>
            </a:r>
          </a:p>
          <a:p>
            <a:endParaRPr lang="en-US" sz="2000" dirty="0"/>
          </a:p>
          <a:p>
            <a:r>
              <a:rPr lang="en-US" sz="2000" dirty="0"/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F26FB7-96A2-E587-DD83-53823BA42A45}"/>
              </a:ext>
            </a:extLst>
          </p:cNvPr>
          <p:cNvSpPr txBox="1"/>
          <p:nvPr/>
        </p:nvSpPr>
        <p:spPr>
          <a:xfrm>
            <a:off x="155259" y="166568"/>
            <a:ext cx="6097904" cy="652486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Event 1 Acquire(thread='T1', lock=1)</a:t>
            </a:r>
          </a:p>
          <a:p>
            <a:r>
              <a:rPr lang="en-US" sz="2000" dirty="0"/>
              <a:t>----------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DoRelease</a:t>
            </a:r>
            <a:r>
              <a:rPr lang="en-US" sz="2000" dirty="0">
                <a:solidFill>
                  <a:srgbClr val="0070C0"/>
                </a:solidFill>
              </a:rPr>
              <a:t>('T1', 1)</a:t>
            </a:r>
          </a:p>
          <a:p>
            <a:endParaRPr lang="en-US" sz="2000" dirty="0"/>
          </a:p>
          <a:p>
            <a:r>
              <a:rPr lang="en-US" sz="2000" b="1" dirty="0"/>
              <a:t>Event 2 Acquire(thread='T2', lock=2)</a:t>
            </a:r>
          </a:p>
          <a:p>
            <a:r>
              <a:rPr lang="en-US" sz="2000" dirty="0"/>
              <a:t>----------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DoRelease</a:t>
            </a:r>
            <a:r>
              <a:rPr lang="en-US" sz="2000" dirty="0">
                <a:solidFill>
                  <a:srgbClr val="0070C0"/>
                </a:solidFill>
              </a:rPr>
              <a:t>('T1', 1)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DoRelease</a:t>
            </a:r>
            <a:r>
              <a:rPr lang="en-US" sz="2000" dirty="0">
                <a:solidFill>
                  <a:srgbClr val="0070C0"/>
                </a:solidFill>
              </a:rPr>
              <a:t>('T2', 2)</a:t>
            </a:r>
          </a:p>
          <a:p>
            <a:endParaRPr lang="en-US" sz="2000" dirty="0"/>
          </a:p>
          <a:p>
            <a:r>
              <a:rPr lang="en-US" sz="2000" b="1" dirty="0"/>
              <a:t>Event 3 Acquire(thread='T1', lock=2)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*** error transition in M1: …</a:t>
            </a:r>
          </a:p>
          <a:p>
            <a:r>
              <a:rPr lang="en-US" sz="2000" dirty="0"/>
              <a:t>----------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DoRelease</a:t>
            </a:r>
            <a:r>
              <a:rPr lang="en-US" sz="2000" dirty="0">
                <a:solidFill>
                  <a:srgbClr val="0070C0"/>
                </a:solidFill>
              </a:rPr>
              <a:t>('T1', 1)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DoRelease</a:t>
            </a:r>
            <a:r>
              <a:rPr lang="en-US" sz="2000" dirty="0">
                <a:solidFill>
                  <a:srgbClr val="0070C0"/>
                </a:solidFill>
              </a:rPr>
              <a:t>('T1', 2)</a:t>
            </a:r>
          </a:p>
          <a:p>
            <a:endParaRPr lang="en-US" sz="2000" dirty="0"/>
          </a:p>
          <a:p>
            <a:r>
              <a:rPr lang="en-US" sz="2000" b="1" dirty="0"/>
              <a:t>Event 4 Release(thread='T1', lock=2)</a:t>
            </a:r>
          </a:p>
          <a:p>
            <a:r>
              <a:rPr lang="en-US" sz="2000" dirty="0"/>
              <a:t>----------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DoRelease</a:t>
            </a:r>
            <a:r>
              <a:rPr lang="en-US" sz="2000" dirty="0">
                <a:solidFill>
                  <a:srgbClr val="0070C0"/>
                </a:solidFill>
              </a:rPr>
              <a:t>('T1', 1)</a:t>
            </a:r>
          </a:p>
          <a:p>
            <a:endParaRPr lang="en-US" sz="2000" dirty="0"/>
          </a:p>
          <a:p>
            <a:r>
              <a:rPr lang="en-US" sz="2000" dirty="0"/>
              <a:t>Terminating monitoring!</a:t>
            </a:r>
          </a:p>
          <a:p>
            <a:r>
              <a:rPr lang="en-US" sz="2000" dirty="0">
                <a:solidFill>
                  <a:srgbClr val="FF0000"/>
                </a:solidFill>
              </a:rPr>
              <a:t>*** error at end in M1: 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A1065-5C49-5B78-2C7F-A1BC02F04639}"/>
              </a:ext>
            </a:extLst>
          </p:cNvPr>
          <p:cNvSpPr txBox="1"/>
          <p:nvPr/>
        </p:nvSpPr>
        <p:spPr>
          <a:xfrm>
            <a:off x="8046720" y="1074509"/>
            <a:ext cx="1516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With indexing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E15E35-E53C-2FF3-0E11-04DA806827D2}"/>
              </a:ext>
            </a:extLst>
          </p:cNvPr>
          <p:cNvSpPr txBox="1"/>
          <p:nvPr/>
        </p:nvSpPr>
        <p:spPr>
          <a:xfrm>
            <a:off x="7031203" y="251639"/>
            <a:ext cx="4010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Previous debugging run with </a:t>
            </a:r>
            <a:r>
              <a:rPr lang="en-US" b="1" dirty="0"/>
              <a:t>no indexing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B9E2A78D-3688-22B9-D250-46F064A5EBA0}"/>
              </a:ext>
            </a:extLst>
          </p:cNvPr>
          <p:cNvSpPr/>
          <p:nvPr/>
        </p:nvSpPr>
        <p:spPr>
          <a:xfrm rot="10800000">
            <a:off x="6424924" y="305931"/>
            <a:ext cx="547614" cy="2607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388A3CE7-86B5-504E-B3DA-49D28C5D2C3D}"/>
              </a:ext>
            </a:extLst>
          </p:cNvPr>
          <p:cNvSpPr/>
          <p:nvPr/>
        </p:nvSpPr>
        <p:spPr>
          <a:xfrm rot="5400000">
            <a:off x="8643760" y="1548136"/>
            <a:ext cx="322295" cy="24494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9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2341BE-CF35-BCB3-7B53-89F620D80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308" y="31474"/>
            <a:ext cx="8214132" cy="68265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F1B6CA-4D6B-0E5D-2357-08E72CE45417}"/>
              </a:ext>
            </a:extLst>
          </p:cNvPr>
          <p:cNvSpPr txBox="1"/>
          <p:nvPr/>
        </p:nvSpPr>
        <p:spPr>
          <a:xfrm>
            <a:off x="354330" y="685800"/>
            <a:ext cx="12891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Daut</a:t>
            </a:r>
          </a:p>
        </p:txBody>
      </p:sp>
    </p:spTree>
    <p:extLst>
      <p:ext uri="{BB962C8B-B14F-4D97-AF65-F5344CB8AC3E}">
        <p14:creationId xmlns:p14="http://schemas.microsoft.com/office/powerpoint/2010/main" val="3306698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5A0F81-3AD4-A989-FFC5-79A6AE8DD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616064"/>
            <a:ext cx="9043134" cy="53436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00F4AA-A419-7C6B-A4B9-CE23F5533A43}"/>
              </a:ext>
            </a:extLst>
          </p:cNvPr>
          <p:cNvSpPr txBox="1"/>
          <p:nvPr/>
        </p:nvSpPr>
        <p:spPr>
          <a:xfrm>
            <a:off x="354330" y="685800"/>
            <a:ext cx="11612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QEA</a:t>
            </a:r>
          </a:p>
        </p:txBody>
      </p:sp>
    </p:spTree>
    <p:extLst>
      <p:ext uri="{BB962C8B-B14F-4D97-AF65-F5344CB8AC3E}">
        <p14:creationId xmlns:p14="http://schemas.microsoft.com/office/powerpoint/2010/main" val="11173709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96874D-A89B-08C3-CE49-07387405C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988" y="307493"/>
            <a:ext cx="8221000" cy="62430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CFAFB0-A8BB-BC07-A400-224D814DC55C}"/>
              </a:ext>
            </a:extLst>
          </p:cNvPr>
          <p:cNvSpPr txBox="1"/>
          <p:nvPr/>
        </p:nvSpPr>
        <p:spPr>
          <a:xfrm>
            <a:off x="354330" y="685800"/>
            <a:ext cx="31056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/>
              <a:t>CommaSuite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928114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1187</Words>
  <Application>Microsoft Macintosh PowerPoint</Application>
  <PresentationFormat>Widescreen</PresentationFormat>
  <Paragraphs>228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Andale Mono</vt:lpstr>
      <vt:lpstr>Arial</vt:lpstr>
      <vt:lpstr>Calibri</vt:lpstr>
      <vt:lpstr>Calibri Light</vt:lpstr>
      <vt:lpstr>SFRM1000</vt:lpstr>
      <vt:lpstr>Office Theme</vt:lpstr>
      <vt:lpstr>A Python Library for Trace Analysis</vt:lpstr>
      <vt:lpstr>PowerPoint Presentation</vt:lpstr>
      <vt:lpstr>The objective: analysis of log files</vt:lpstr>
      <vt:lpstr>Classical dimensions to consider = E3</vt:lpstr>
      <vt:lpstr>External versus internal DSLs</vt:lpstr>
      <vt:lpstr>External vs. internal DSLs</vt:lpstr>
      <vt:lpstr>PowerPoint Presentation</vt:lpstr>
      <vt:lpstr>CommaSuite – an External DSL</vt:lpstr>
      <vt:lpstr>Approach inspired by rule based programming</vt:lpstr>
      <vt:lpstr>Using the API</vt:lpstr>
      <vt:lpstr>Definition of events</vt:lpstr>
      <vt:lpstr>Monitor</vt:lpstr>
      <vt:lpstr>Visualization</vt:lpstr>
      <vt:lpstr>Visualization using PlantUML</vt:lpstr>
      <vt:lpstr>Applying the monitor</vt:lpstr>
      <vt:lpstr>Debug mode</vt:lpstr>
      <vt:lpstr>Referring to the past</vt:lpstr>
      <vt:lpstr>PowerPoint Presentation</vt:lpstr>
      <vt:lpstr>Monitor</vt:lpstr>
      <vt:lpstr>PowerPoint Presentation</vt:lpstr>
      <vt:lpstr>Additional Features</vt:lpstr>
      <vt:lpstr>Evaluation</vt:lpstr>
      <vt:lpstr>PowerPoint Presentation</vt:lpstr>
      <vt:lpstr>Comparison with external DSL translated to C++</vt:lpstr>
      <vt:lpstr>Conclusions</vt:lpstr>
      <vt:lpstr>PowerPoint Presentation</vt:lpstr>
      <vt:lpstr>Combining monitors</vt:lpstr>
      <vt:lpstr>Five kinds of states</vt:lpstr>
      <vt:lpstr>The set of states:  we have to search for each event </vt:lpstr>
      <vt:lpstr>Indexing</vt:lpstr>
      <vt:lpstr>NextState and HotNextState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262</cp:revision>
  <dcterms:created xsi:type="dcterms:W3CDTF">2022-09-26T16:32:25Z</dcterms:created>
  <dcterms:modified xsi:type="dcterms:W3CDTF">2022-09-29T04:28:12Z</dcterms:modified>
</cp:coreProperties>
</file>